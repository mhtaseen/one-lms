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x="18288000" cy="10287000"/>
  <p:notesSz cx="6858000" cy="9144000"/>
  <p:embeddedFontLst>
    <p:embeddedFont>
      <p:font typeface="Times New Roman Bold" charset="1" panose="02020803070505020304"/>
      <p:regular r:id="rId31"/>
    </p:embeddedFont>
    <p:embeddedFont>
      <p:font typeface="Times New Roman" charset="1" panose="02020603050405020304"/>
      <p:regular r:id="rId32"/>
    </p:embeddedFont>
    <p:embeddedFont>
      <p:font typeface="Times New Roman Italics" charset="1" panose="02020503050405090304"/>
      <p:regular r:id="rId33"/>
    </p:embeddedFont>
    <p:embeddedFont>
      <p:font typeface="Times New Roman Bold Italics" charset="1" panose="02020703060505090304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docs.google.com/spreadsheets/d/1n0yjQDdZ6ZD1LAxv1p1GW9K4iSb9nmKezfAaOGjW4iY/edit?usp=drive_link" TargetMode="External" Type="http://schemas.openxmlformats.org/officeDocument/2006/relationships/hyperlink"/><Relationship Id="rId3" Target="http://one-lms-test.infinityfreeapp.com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F506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29405"/>
            <a:ext cx="16198280" cy="2854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02"/>
              </a:lnSpc>
            </a:pPr>
            <a:r>
              <a:rPr lang="en-US" b="true" sz="5502" spc="-22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Unpacking the Invisible Barriers: A Mixed-Methods Usability</a:t>
            </a:r>
          </a:p>
          <a:p>
            <a:pPr algn="ctr" marL="0" indent="0" lvl="0">
              <a:lnSpc>
                <a:spcPts val="5502"/>
              </a:lnSpc>
            </a:pPr>
            <a:r>
              <a:rPr lang="en-US" b="true" sz="5502" spc="-22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Evaluation of Learning Manag</a:t>
            </a:r>
            <a:r>
              <a:rPr lang="en-US" b="true" sz="5502" spc="-22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ement Systems in Bangladeshi Universities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6743949"/>
            <a:ext cx="10703798" cy="478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0"/>
              </a:lnSpc>
              <a:spcBef>
                <a:spcPct val="0"/>
              </a:spcBef>
            </a:pPr>
            <a:r>
              <a:rPr lang="en-US" sz="3200" spc="233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presentation by Thesis Group ID: T2520849 -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7324505"/>
            <a:ext cx="6081788" cy="2379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5" indent="-291463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S.M Shuraim (21201725) </a:t>
            </a:r>
          </a:p>
          <a:p>
            <a:pPr algn="l" marL="582925" indent="-291463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Jannat Zarin (22101131)</a:t>
            </a:r>
          </a:p>
          <a:p>
            <a:pPr algn="l" marL="582925" indent="-291463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Afif Jabir Atanu (24241363)</a:t>
            </a:r>
          </a:p>
          <a:p>
            <a:pPr algn="l" marL="582925" indent="-291463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Mahmudul Hassa</a:t>
            </a:r>
            <a:r>
              <a:rPr lang="en-US" sz="26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Taseen (22301531)</a:t>
            </a:r>
          </a:p>
          <a:p>
            <a:pPr algn="l" marL="582925" indent="-291463" lvl="1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6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Enamul Haque Shafin (21201653)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925739" y="3413389"/>
            <a:ext cx="14436521" cy="2722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10"/>
              </a:lnSpc>
            </a:pPr>
            <a:r>
              <a:rPr lang="en-US" sz="307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Supervisor: Md. Sabbir Ahmed</a:t>
            </a:r>
          </a:p>
          <a:p>
            <a:pPr algn="ctr">
              <a:lnSpc>
                <a:spcPts val="4310"/>
              </a:lnSpc>
            </a:pPr>
            <a:r>
              <a:rPr lang="en-US" sz="307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Co-Supervisor: Dr. S M Taiabul Haque</a:t>
            </a:r>
          </a:p>
          <a:p>
            <a:pPr algn="ctr">
              <a:lnSpc>
                <a:spcPts val="4310"/>
              </a:lnSpc>
            </a:pPr>
            <a:r>
              <a:rPr lang="en-US" sz="307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</a:t>
            </a:r>
          </a:p>
          <a:p>
            <a:pPr algn="ctr">
              <a:lnSpc>
                <a:spcPts val="4310"/>
              </a:lnSpc>
            </a:pPr>
            <a:r>
              <a:rPr lang="en-US" sz="307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BRAC University</a:t>
            </a:r>
          </a:p>
          <a:p>
            <a:pPr algn="ctr">
              <a:lnSpc>
                <a:spcPts val="431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2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654360" y="3015087"/>
            <a:ext cx="13976710" cy="1227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1810" indent="-345905" lvl="1">
              <a:lnSpc>
                <a:spcPts val="3108"/>
              </a:lnSpc>
              <a:buFont typeface="Arial"/>
              <a:buChar char="•"/>
            </a:pPr>
            <a:r>
              <a:rPr lang="en-US" sz="3204" spc="-6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Learning Management Systems (LMS) are now the central hub for content delivery and communication in higher education - Moodle alone reports ~291 million users across 241 countries.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684330" y="4570455"/>
            <a:ext cx="13517154" cy="836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0872" indent="-345436" lvl="1">
              <a:lnSpc>
                <a:spcPts val="3103"/>
              </a:lnSpc>
              <a:buFont typeface="Arial"/>
              <a:buChar char="•"/>
            </a:pPr>
            <a:r>
              <a:rPr lang="en-US" sz="3199" spc="-6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Asia's e-learning market is growing ~17.3% per year; COVID-19 forced universities online almost overnight.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654360" y="5747964"/>
            <a:ext cx="13547123" cy="836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0879" indent="-345439" lvl="1">
              <a:lnSpc>
                <a:spcPts val="3103"/>
              </a:lnSpc>
              <a:buFont typeface="Arial"/>
              <a:buChar char="•"/>
            </a:pPr>
            <a:r>
              <a:rPr lang="en-US" sz="3199" spc="-6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paradox: LMS platforms are extensively adopted but not fully exploited - often used as a digital file library, not a learning environment.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654360" y="7050973"/>
            <a:ext cx="13547123" cy="836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0879" indent="-345439" lvl="1">
              <a:lnSpc>
                <a:spcPts val="3103"/>
              </a:lnSpc>
              <a:buFont typeface="Arial"/>
              <a:buChar char="•"/>
            </a:pPr>
            <a:r>
              <a:rPr lang="en-US" sz="3199" spc="-6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Adoption ≠ meaningful use. The root cause is the quality of the user experience, not the availability of technology.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744268" y="8353982"/>
            <a:ext cx="13457215" cy="836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0879" indent="-345439" lvl="1">
              <a:lnSpc>
                <a:spcPts val="3103"/>
              </a:lnSpc>
              <a:buFont typeface="Arial"/>
              <a:buChar char="•"/>
            </a:pPr>
            <a:r>
              <a:rPr lang="en-US" sz="3199" spc="-6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resource-constrained settings like Bangladesh, minor usability problems are compounded by unreliable internet, limited devices, and uneven digital literacy.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21567" y="1342482"/>
            <a:ext cx="15012709" cy="1002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00"/>
              </a:lnSpc>
            </a:pPr>
            <a:r>
              <a:rPr lang="en-US" b="true" sz="7200" spc="-288">
                <a:gradFill>
                  <a:gsLst>
                    <a:gs pos="0">
                      <a:srgbClr val="032A33">
                        <a:alpha val="100000"/>
                      </a:srgbClr>
                    </a:gs>
                    <a:gs pos="100000">
                      <a:srgbClr val="106470">
                        <a:alpha val="100000"/>
                      </a:srgbClr>
                    </a:gs>
                  </a:gsLst>
                  <a:lin ang="5400000"/>
                </a:gradFill>
                <a:latin typeface="Times New Roman Bold"/>
                <a:ea typeface="Times New Roman Bold"/>
                <a:cs typeface="Times New Roman Bold"/>
                <a:sym typeface="Times New Roman Bold"/>
              </a:rPr>
              <a:t>Background : The LMS Paradox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2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46024" y="575310"/>
            <a:ext cx="14339118" cy="1002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00"/>
              </a:lnSpc>
            </a:pPr>
            <a:r>
              <a:rPr lang="en-US" b="true" sz="7200" spc="-288">
                <a:gradFill>
                  <a:gsLst>
                    <a:gs pos="0">
                      <a:srgbClr val="032A33">
                        <a:alpha val="100000"/>
                      </a:srgbClr>
                    </a:gs>
                    <a:gs pos="100000">
                      <a:srgbClr val="106470">
                        <a:alpha val="100000"/>
                      </a:srgbClr>
                    </a:gs>
                  </a:gsLst>
                  <a:lin ang="5400000"/>
                </a:gra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 &amp; Research Gap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46024" y="1683511"/>
            <a:ext cx="14683128" cy="3315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77818" indent="-288909" lvl="1">
              <a:lnSpc>
                <a:spcPts val="3666"/>
              </a:lnSpc>
              <a:buFont typeface="Arial"/>
              <a:buChar char="•"/>
            </a:pPr>
            <a:r>
              <a:rPr lang="en-US" sz="2676" spc="-8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LMS platforms in Bangladeshi universities are underutilized - treated as file repositories, not interactive learning environments.</a:t>
            </a:r>
          </a:p>
          <a:p>
            <a:pPr algn="just" marL="577818" indent="-288909" lvl="1">
              <a:lnSpc>
                <a:spcPts val="3666"/>
              </a:lnSpc>
              <a:buFont typeface="Arial"/>
              <a:buChar char="•"/>
            </a:pPr>
            <a:r>
              <a:rPr lang="en-US" sz="2676" spc="-8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Poor usability drives this: unintuitive navigation, cluttered layouts, no reliable search, weak collaboration tools.</a:t>
            </a:r>
          </a:p>
          <a:p>
            <a:pPr algn="just" marL="577818" indent="-288909" lvl="1">
              <a:lnSpc>
                <a:spcPts val="3666"/>
              </a:lnSpc>
              <a:buFont typeface="Arial"/>
              <a:buChar char="•"/>
            </a:pPr>
            <a:r>
              <a:rPr lang="en-US" sz="2676" spc="-8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Infrastructural realities - unreliable internet, limited devices, uneven digital literacy - amplify every flaw.</a:t>
            </a:r>
          </a:p>
          <a:p>
            <a:pPr algn="l">
              <a:lnSpc>
                <a:spcPts val="4077"/>
              </a:lnSpc>
            </a:pPr>
            <a:r>
              <a:rPr lang="en-US" sz="2976" spc="-9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</a:t>
            </a:r>
          </a:p>
          <a:p>
            <a:pPr algn="l">
              <a:lnSpc>
                <a:spcPts val="4077"/>
              </a:lnSpc>
            </a:pPr>
            <a:r>
              <a:rPr lang="en-US" sz="2976" spc="-9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Affects everyone: students lack search &amp; feedback; faculty lack training &amp; support.</a:t>
            </a:r>
          </a:p>
          <a:p>
            <a:pPr algn="l">
              <a:lnSpc>
                <a:spcPts val="3529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1502484" y="4639199"/>
            <a:ext cx="6895057" cy="4295099"/>
            <a:chOff x="0" y="0"/>
            <a:chExt cx="2511162" cy="15642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11162" cy="1564264"/>
            </a:xfrm>
            <a:custGeom>
              <a:avLst/>
              <a:gdLst/>
              <a:ahLst/>
              <a:cxnLst/>
              <a:rect r="r" b="b" t="t" l="l"/>
              <a:pathLst>
                <a:path h="1564264" w="2511162">
                  <a:moveTo>
                    <a:pt x="20211" y="0"/>
                  </a:moveTo>
                  <a:lnTo>
                    <a:pt x="2490951" y="0"/>
                  </a:lnTo>
                  <a:cubicBezTo>
                    <a:pt x="2502113" y="0"/>
                    <a:pt x="2511162" y="9049"/>
                    <a:pt x="2511162" y="20211"/>
                  </a:cubicBezTo>
                  <a:lnTo>
                    <a:pt x="2511162" y="1544053"/>
                  </a:lnTo>
                  <a:cubicBezTo>
                    <a:pt x="2511162" y="1549413"/>
                    <a:pt x="2509033" y="1554554"/>
                    <a:pt x="2505242" y="1558344"/>
                  </a:cubicBezTo>
                  <a:cubicBezTo>
                    <a:pt x="2501452" y="1562135"/>
                    <a:pt x="2496311" y="1564264"/>
                    <a:pt x="2490951" y="1564264"/>
                  </a:cubicBezTo>
                  <a:lnTo>
                    <a:pt x="20211" y="1564264"/>
                  </a:lnTo>
                  <a:cubicBezTo>
                    <a:pt x="14851" y="1564264"/>
                    <a:pt x="9710" y="1562135"/>
                    <a:pt x="5920" y="1558344"/>
                  </a:cubicBezTo>
                  <a:cubicBezTo>
                    <a:pt x="2129" y="1554554"/>
                    <a:pt x="0" y="1549413"/>
                    <a:pt x="0" y="1544053"/>
                  </a:cubicBezTo>
                  <a:lnTo>
                    <a:pt x="0" y="20211"/>
                  </a:lnTo>
                  <a:cubicBezTo>
                    <a:pt x="0" y="14851"/>
                    <a:pt x="2129" y="9710"/>
                    <a:pt x="5920" y="5920"/>
                  </a:cubicBezTo>
                  <a:cubicBezTo>
                    <a:pt x="9710" y="2129"/>
                    <a:pt x="14851" y="0"/>
                    <a:pt x="20211" y="0"/>
                  </a:cubicBezTo>
                  <a:close/>
                </a:path>
              </a:pathLst>
            </a:custGeom>
            <a:solidFill>
              <a:srgbClr val="C8DEE2"/>
            </a:solidFill>
            <a:ln w="19050" cap="sq">
              <a:solidFill>
                <a:srgbClr val="C8DEE2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511162" cy="16023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784209" y="5917346"/>
            <a:ext cx="5781366" cy="2415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0707" indent="-320353" lvl="1">
              <a:lnSpc>
                <a:spcPts val="3798"/>
              </a:lnSpc>
              <a:buFont typeface="Arial"/>
              <a:buChar char="•"/>
            </a:pPr>
            <a:r>
              <a:rPr lang="en-US" sz="296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r>
              <a:rPr lang="en-US" sz="296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andardized scores (SUS, UEQ)</a:t>
            </a:r>
          </a:p>
          <a:p>
            <a:pPr algn="l" marL="640707" indent="-320353" lvl="1">
              <a:lnSpc>
                <a:spcPts val="3798"/>
              </a:lnSpc>
              <a:buFont typeface="Arial"/>
              <a:buChar char="•"/>
            </a:pPr>
            <a:r>
              <a:rPr lang="en-US" sz="296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Western-centric models</a:t>
            </a:r>
          </a:p>
          <a:p>
            <a:pPr algn="l" marL="640707" indent="-320353" lvl="1">
              <a:lnSpc>
                <a:spcPts val="3798"/>
              </a:lnSpc>
              <a:buFont typeface="Arial"/>
              <a:buChar char="•"/>
            </a:pPr>
            <a:r>
              <a:rPr lang="en-US" sz="296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platform / single stakeholder</a:t>
            </a:r>
          </a:p>
          <a:p>
            <a:pPr algn="l" marL="640707" indent="-320353" lvl="1">
              <a:lnSpc>
                <a:spcPts val="3798"/>
              </a:lnSpc>
              <a:buFont typeface="Arial"/>
              <a:buChar char="•"/>
            </a:pPr>
            <a:r>
              <a:rPr lang="en-US" sz="296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Problems documented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118096" y="4639199"/>
            <a:ext cx="7008326" cy="4295099"/>
            <a:chOff x="0" y="0"/>
            <a:chExt cx="2552414" cy="15642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52414" cy="1564264"/>
            </a:xfrm>
            <a:custGeom>
              <a:avLst/>
              <a:gdLst/>
              <a:ahLst/>
              <a:cxnLst/>
              <a:rect r="r" b="b" t="t" l="l"/>
              <a:pathLst>
                <a:path h="1564264" w="2552414">
                  <a:moveTo>
                    <a:pt x="19884" y="0"/>
                  </a:moveTo>
                  <a:lnTo>
                    <a:pt x="2532530" y="0"/>
                  </a:lnTo>
                  <a:cubicBezTo>
                    <a:pt x="2543512" y="0"/>
                    <a:pt x="2552414" y="8902"/>
                    <a:pt x="2552414" y="19884"/>
                  </a:cubicBezTo>
                  <a:lnTo>
                    <a:pt x="2552414" y="1544380"/>
                  </a:lnTo>
                  <a:cubicBezTo>
                    <a:pt x="2552414" y="1555362"/>
                    <a:pt x="2543512" y="1564264"/>
                    <a:pt x="2532530" y="1564264"/>
                  </a:cubicBezTo>
                  <a:lnTo>
                    <a:pt x="19884" y="1564264"/>
                  </a:lnTo>
                  <a:cubicBezTo>
                    <a:pt x="8902" y="1564264"/>
                    <a:pt x="0" y="1555362"/>
                    <a:pt x="0" y="1544380"/>
                  </a:cubicBezTo>
                  <a:lnTo>
                    <a:pt x="0" y="19884"/>
                  </a:lnTo>
                  <a:cubicBezTo>
                    <a:pt x="0" y="8902"/>
                    <a:pt x="8902" y="0"/>
                    <a:pt x="19884" y="0"/>
                  </a:cubicBezTo>
                  <a:close/>
                </a:path>
              </a:pathLst>
            </a:custGeom>
            <a:solidFill>
              <a:srgbClr val="C8DEE2"/>
            </a:solidFill>
            <a:ln w="19050" cap="sq">
              <a:solidFill>
                <a:srgbClr val="D3E4E7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552414" cy="16023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703315" y="4960559"/>
            <a:ext cx="5641655" cy="483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95"/>
              </a:lnSpc>
              <a:spcBef>
                <a:spcPct val="0"/>
              </a:spcBef>
            </a:pPr>
            <a:r>
              <a:rPr lang="en-US" b="true" sz="2964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MISSING</a:t>
            </a:r>
            <a:r>
              <a:rPr lang="en-US" b="true" sz="2964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FOR BANGLADESH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18096" y="5890871"/>
            <a:ext cx="6926188" cy="2459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4474" indent="-332237" lvl="1">
              <a:lnSpc>
                <a:spcPts val="3939"/>
              </a:lnSpc>
              <a:buFont typeface="Arial"/>
              <a:buChar char="•"/>
            </a:pPr>
            <a:r>
              <a:rPr lang="en-US" sz="307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Pedag</a:t>
            </a:r>
            <a:r>
              <a:rPr lang="en-US" sz="307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ogical &amp; sociocultural usability </a:t>
            </a:r>
          </a:p>
          <a:p>
            <a:pPr algn="l" marL="664474" indent="-332237" lvl="1">
              <a:lnSpc>
                <a:spcPts val="3939"/>
              </a:lnSpc>
              <a:buFont typeface="Arial"/>
              <a:buChar char="•"/>
            </a:pPr>
            <a:r>
              <a:rPr lang="en-US" sz="307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Context-specific, low-resource framework</a:t>
            </a:r>
          </a:p>
          <a:p>
            <a:pPr algn="l" marL="664474" indent="-332237" lvl="1">
              <a:lnSpc>
                <a:spcPts val="3939"/>
              </a:lnSpc>
              <a:buFont typeface="Arial"/>
              <a:buChar char="•"/>
            </a:pPr>
            <a:r>
              <a:rPr lang="en-US" sz="307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Fragmented multi-platform reality </a:t>
            </a:r>
          </a:p>
          <a:p>
            <a:pPr algn="l" marL="664474" indent="-332237" lvl="1">
              <a:lnSpc>
                <a:spcPts val="3939"/>
              </a:lnSpc>
              <a:buFont typeface="Arial"/>
              <a:buChar char="•"/>
            </a:pPr>
            <a:r>
              <a:rPr lang="en-US" sz="307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Findings carried into real solutions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99574" y="4912934"/>
            <a:ext cx="5427817" cy="578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0"/>
              </a:lnSpc>
              <a:spcBef>
                <a:spcPct val="0"/>
              </a:spcBef>
            </a:pPr>
            <a:r>
              <a:rPr lang="en-US" b="true" sz="325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Studied Globally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2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86458" y="1133475"/>
            <a:ext cx="14466250" cy="1027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60"/>
              </a:lnSpc>
            </a:pPr>
            <a:r>
              <a:rPr lang="en-US" b="true" sz="7460" spc="-298">
                <a:gradFill>
                  <a:gsLst>
                    <a:gs pos="0">
                      <a:srgbClr val="032A33">
                        <a:alpha val="100000"/>
                      </a:srgbClr>
                    </a:gs>
                    <a:gs pos="100000">
                      <a:srgbClr val="106470">
                        <a:alpha val="100000"/>
                      </a:srgbClr>
                    </a:gs>
                  </a:gsLst>
                  <a:lin ang="5400000"/>
                </a:gra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 Objectives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86458" y="2372015"/>
            <a:ext cx="15297859" cy="7904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62892" indent="-381446" lvl="1">
              <a:lnSpc>
                <a:spcPts val="6749"/>
              </a:lnSpc>
              <a:buAutoNum type="arabicPeriod" startAt="1"/>
            </a:pPr>
            <a:r>
              <a:rPr lang="en-US" sz="3533" spc="-11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Identify and examine the key usability issues in LMS platforms - interface design, navigation, accessibility, and collaboration - from both student and faculty perspectives.</a:t>
            </a:r>
          </a:p>
          <a:p>
            <a:pPr algn="just" marL="762892" indent="-381446" lvl="1">
              <a:lnSpc>
                <a:spcPts val="6749"/>
              </a:lnSpc>
              <a:buAutoNum type="arabicPeriod" startAt="1"/>
            </a:pPr>
            <a:r>
              <a:rPr lang="en-US" sz="3533" spc="-11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Examine the relationship between usability deficits and LMS adoption rates, learner engagement, and teaching methods.</a:t>
            </a:r>
          </a:p>
          <a:p>
            <a:pPr algn="just" marL="762892" indent="-381446" lvl="1">
              <a:lnSpc>
                <a:spcPts val="6749"/>
              </a:lnSpc>
              <a:buAutoNum type="arabicPeriod" startAt="1"/>
            </a:pPr>
            <a:r>
              <a:rPr lang="en-US" sz="3533" spc="-11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Assess the impact of institutional support, professional development, and digital literacy on successful LMS use in resource-limited contexts.</a:t>
            </a:r>
          </a:p>
          <a:p>
            <a:pPr algn="just" marL="762892" indent="-381446" lvl="1">
              <a:lnSpc>
                <a:spcPts val="6749"/>
              </a:lnSpc>
              <a:buAutoNum type="arabicPeriod" startAt="1"/>
            </a:pPr>
            <a:r>
              <a:rPr lang="en-US" sz="3533" spc="-11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Produce evidence-based recommendations and implementation guidelines for more usable, interactive LMS environments.</a:t>
            </a:r>
          </a:p>
          <a:p>
            <a:pPr algn="l">
              <a:lnSpc>
                <a:spcPts val="4155"/>
              </a:lnSpc>
            </a:pPr>
          </a:p>
          <a:p>
            <a:pPr algn="l">
              <a:lnSpc>
                <a:spcPts val="4155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2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85825"/>
            <a:ext cx="15820882" cy="105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52"/>
              </a:lnSpc>
              <a:spcBef>
                <a:spcPct val="0"/>
              </a:spcBef>
            </a:pPr>
            <a:r>
              <a:rPr lang="en-US" b="true" sz="6037">
                <a:gradFill>
                  <a:gsLst>
                    <a:gs pos="0">
                      <a:srgbClr val="032A33">
                        <a:alpha val="100000"/>
                      </a:srgbClr>
                    </a:gs>
                    <a:gs pos="100000">
                      <a:srgbClr val="106470">
                        <a:alpha val="100000"/>
                      </a:srgbClr>
                    </a:gs>
                  </a:gsLst>
                  <a:lin ang="5400000"/>
                </a:gradFill>
                <a:latin typeface="Times New Roman Bold"/>
                <a:ea typeface="Times New Roman Bold"/>
                <a:cs typeface="Times New Roman Bold"/>
                <a:sym typeface="Times New Roman Bold"/>
              </a:rPr>
              <a:t>Literature Review: What Prior Work Found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55805" y="2175283"/>
            <a:ext cx="15376389" cy="730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2754" indent="-346377" lvl="1">
              <a:lnSpc>
                <a:spcPts val="4492"/>
              </a:lnSpc>
              <a:buFont typeface="Arial"/>
              <a:buChar char="•"/>
            </a:pPr>
            <a:r>
              <a:rPr lang="en-US" b="true" sz="320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Standardized measurement</a:t>
            </a:r>
            <a:r>
              <a:rPr lang="en-US" sz="320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Scores conflict and miss context: Berényi f</a:t>
            </a:r>
            <a:r>
              <a:rPr lang="en-US" sz="320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ound high Moodle usability (SUS 85.04) yet ignored notifications/collaboration; Koca &amp; Özcan found only moderate faculty usability (SUS 63.85) due to poor support &amp; training; multi-method testing (Alkoblan &amp; Al-Wadud) exposed 31 defects - ~3× more than single-method.</a:t>
            </a:r>
          </a:p>
          <a:p>
            <a:pPr algn="ctr">
              <a:lnSpc>
                <a:spcPts val="4492"/>
              </a:lnSpc>
            </a:pPr>
          </a:p>
          <a:p>
            <a:pPr algn="just" marL="692754" indent="-346377" lvl="1">
              <a:lnSpc>
                <a:spcPts val="4492"/>
              </a:lnSpc>
              <a:buFont typeface="Arial"/>
              <a:buChar char="•"/>
            </a:pPr>
            <a:r>
              <a:rPr lang="en-US" b="true" sz="320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Pedagogy &amp; sociocultural design</a:t>
            </a:r>
            <a:r>
              <a:rPr lang="en-US" sz="320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UI is a pedagogical tool, not cosmetics (Faghih et al.); unappealing design and low-quality content sink otherwise useful systems (Al-Fraihat et al.); Moodle is widely seen as a file repository with no training (Simon et al.).</a:t>
            </a:r>
          </a:p>
          <a:p>
            <a:pPr algn="ctr">
              <a:lnSpc>
                <a:spcPts val="4492"/>
              </a:lnSpc>
            </a:pPr>
          </a:p>
          <a:p>
            <a:pPr algn="just" marL="692754" indent="-346377" lvl="1">
              <a:lnSpc>
                <a:spcPts val="4492"/>
              </a:lnSpc>
              <a:buFont typeface="Arial"/>
              <a:buChar char="•"/>
            </a:pPr>
            <a:r>
              <a:rPr lang="en-US" b="true" sz="320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Low-resource settings</a:t>
            </a:r>
            <a:r>
              <a:rPr lang="en-US" sz="320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Rural Bangladeshi students hit internet problems ~2× as often (Karim et al.); poor tech access linked to e-learning stress (Hasan et al.); private-university online learning broadly dissatisfying (Saarmean et al.).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4090" y="3214565"/>
            <a:ext cx="9608371" cy="5128434"/>
          </a:xfrm>
          <a:custGeom>
            <a:avLst/>
            <a:gdLst/>
            <a:ahLst/>
            <a:cxnLst/>
            <a:rect r="r" b="b" t="t" l="l"/>
            <a:pathLst>
              <a:path h="5128434" w="9608371">
                <a:moveTo>
                  <a:pt x="0" y="0"/>
                </a:moveTo>
                <a:lnTo>
                  <a:pt x="9608371" y="0"/>
                </a:lnTo>
                <a:lnTo>
                  <a:pt x="9608371" y="5128434"/>
                </a:lnTo>
                <a:lnTo>
                  <a:pt x="0" y="51284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499" t="-13465" r="-9742" b="-891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893092"/>
            <a:ext cx="18288000" cy="780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00"/>
              </a:lnSpc>
            </a:pPr>
            <a:r>
              <a:rPr lang="en-US" b="true" sz="5600" spc="-224">
                <a:gradFill>
                  <a:gsLst>
                    <a:gs pos="0">
                      <a:srgbClr val="032A33">
                        <a:alpha val="100000"/>
                      </a:srgbClr>
                    </a:gs>
                    <a:gs pos="100000">
                      <a:srgbClr val="106470">
                        <a:alpha val="100000"/>
                      </a:srgbClr>
                    </a:gs>
                  </a:gsLst>
                  <a:lin ang="5400000"/>
                </a:gra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 Design: Exploratory Sequential Mixed Methods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403084" y="1922301"/>
            <a:ext cx="7630922" cy="797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81"/>
              </a:lnSpc>
            </a:pPr>
            <a:r>
              <a:rPr lang="en-US" sz="271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Mixed-Meth</a:t>
            </a:r>
            <a:r>
              <a:rPr lang="en-US" sz="271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ods design :</a:t>
            </a:r>
          </a:p>
          <a:p>
            <a:pPr algn="ctr">
              <a:lnSpc>
                <a:spcPts val="5421"/>
              </a:lnSpc>
            </a:pPr>
            <a:r>
              <a:rPr lang="en-US" b="true" sz="301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Q</a:t>
            </a:r>
            <a:r>
              <a:rPr lang="en-US" b="true" sz="301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ualitative first, Quantitative second</a:t>
            </a:r>
          </a:p>
          <a:p>
            <a:pPr algn="l" marL="585516" indent="-292758" lvl="1">
              <a:lnSpc>
                <a:spcPts val="4881"/>
              </a:lnSpc>
              <a:buFont typeface="Arial"/>
              <a:buChar char="•"/>
            </a:pPr>
            <a:r>
              <a:rPr lang="en-US" b="true" sz="271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Qualitative:</a:t>
            </a:r>
            <a:r>
              <a:rPr lang="en-US" sz="271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algn="just">
              <a:lnSpc>
                <a:spcPts val="4881"/>
              </a:lnSpc>
            </a:pPr>
            <a:r>
              <a:rPr lang="en-US" sz="271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71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emi-structured interviews →thematic analysis →    seven usability themes. </a:t>
            </a:r>
            <a:r>
              <a:rPr lang="en-US" sz="271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These </a:t>
            </a:r>
            <a:r>
              <a:rPr lang="en-US" sz="271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themes are converted into research questions and 7 hypotheses.</a:t>
            </a:r>
          </a:p>
          <a:p>
            <a:pPr algn="just" marL="585516" indent="-292758" lvl="1">
              <a:lnSpc>
                <a:spcPts val="4881"/>
              </a:lnSpc>
              <a:buFont typeface="Arial"/>
              <a:buChar char="•"/>
            </a:pPr>
            <a:r>
              <a:rPr lang="en-US" b="true" sz="271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Quantitative</a:t>
            </a:r>
            <a:r>
              <a:rPr lang="en-US" sz="271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</a:p>
          <a:p>
            <a:pPr algn="just">
              <a:lnSpc>
                <a:spcPts val="4881"/>
              </a:lnSpc>
            </a:pPr>
            <a:r>
              <a:rPr lang="en-US" sz="271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structured survey tests the severity of each themes at scale. </a:t>
            </a:r>
            <a:r>
              <a:rPr lang="en-US" sz="271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findings are then </a:t>
            </a:r>
            <a:r>
              <a:rPr lang="en-US" sz="271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merged into context-specific design solutions and a working prototype. Paradigm: pragmatism - method chosen to fit the problem, not the reverse.</a:t>
            </a:r>
          </a:p>
          <a:p>
            <a:pPr algn="just">
              <a:lnSpc>
                <a:spcPts val="3916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213046" y="8590271"/>
            <a:ext cx="8484623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32A3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Figure : Workflow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2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74685" y="724688"/>
            <a:ext cx="15608106" cy="1002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00"/>
              </a:lnSpc>
            </a:pPr>
            <a:r>
              <a:rPr lang="en-US" b="true" sz="7200" spc="-288">
                <a:gradFill>
                  <a:gsLst>
                    <a:gs pos="0">
                      <a:srgbClr val="032A33">
                        <a:alpha val="100000"/>
                      </a:srgbClr>
                    </a:gs>
                    <a:gs pos="100000">
                      <a:srgbClr val="106470">
                        <a:alpha val="100000"/>
                      </a:srgbClr>
                    </a:gs>
                  </a:gsLst>
                  <a:lin ang="5400000"/>
                </a:gradFill>
                <a:latin typeface="Times New Roman Bold"/>
                <a:ea typeface="Times New Roman Bold"/>
                <a:cs typeface="Times New Roman Bold"/>
                <a:sym typeface="Times New Roman Bold"/>
              </a:rPr>
              <a:t>Methodology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809289" y="2191031"/>
            <a:ext cx="7102884" cy="7679384"/>
            <a:chOff x="0" y="0"/>
            <a:chExt cx="1870718" cy="202255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70718" cy="2022554"/>
            </a:xfrm>
            <a:custGeom>
              <a:avLst/>
              <a:gdLst/>
              <a:ahLst/>
              <a:cxnLst/>
              <a:rect r="r" b="b" t="t" l="l"/>
              <a:pathLst>
                <a:path h="2022554" w="1870718">
                  <a:moveTo>
                    <a:pt x="19619" y="0"/>
                  </a:moveTo>
                  <a:lnTo>
                    <a:pt x="1851099" y="0"/>
                  </a:lnTo>
                  <a:cubicBezTo>
                    <a:pt x="1861934" y="0"/>
                    <a:pt x="1870718" y="8784"/>
                    <a:pt x="1870718" y="19619"/>
                  </a:cubicBezTo>
                  <a:lnTo>
                    <a:pt x="1870718" y="2002935"/>
                  </a:lnTo>
                  <a:cubicBezTo>
                    <a:pt x="1870718" y="2008138"/>
                    <a:pt x="1868651" y="2013128"/>
                    <a:pt x="1864972" y="2016808"/>
                  </a:cubicBezTo>
                  <a:cubicBezTo>
                    <a:pt x="1861293" y="2020487"/>
                    <a:pt x="1856302" y="2022554"/>
                    <a:pt x="1851099" y="2022554"/>
                  </a:cubicBezTo>
                  <a:lnTo>
                    <a:pt x="19619" y="2022554"/>
                  </a:lnTo>
                  <a:cubicBezTo>
                    <a:pt x="8784" y="2022554"/>
                    <a:pt x="0" y="2013770"/>
                    <a:pt x="0" y="2002935"/>
                  </a:cubicBezTo>
                  <a:lnTo>
                    <a:pt x="0" y="19619"/>
                  </a:lnTo>
                  <a:cubicBezTo>
                    <a:pt x="0" y="8784"/>
                    <a:pt x="8784" y="0"/>
                    <a:pt x="19619" y="0"/>
                  </a:cubicBezTo>
                  <a:close/>
                </a:path>
              </a:pathLst>
            </a:custGeom>
            <a:solidFill>
              <a:srgbClr val="C8DEE2"/>
            </a:solidFill>
            <a:ln w="19050" cap="sq">
              <a:solidFill>
                <a:srgbClr val="D3E4E7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870718" cy="20606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311757" y="2410846"/>
            <a:ext cx="995065" cy="837269"/>
            <a:chOff x="0" y="0"/>
            <a:chExt cx="262075" cy="22051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62075" cy="220515"/>
            </a:xfrm>
            <a:custGeom>
              <a:avLst/>
              <a:gdLst/>
              <a:ahLst/>
              <a:cxnLst/>
              <a:rect r="r" b="b" t="t" l="l"/>
              <a:pathLst>
                <a:path h="220515" w="262075">
                  <a:moveTo>
                    <a:pt x="110258" y="0"/>
                  </a:moveTo>
                  <a:lnTo>
                    <a:pt x="151817" y="0"/>
                  </a:lnTo>
                  <a:cubicBezTo>
                    <a:pt x="212711" y="0"/>
                    <a:pt x="262075" y="49364"/>
                    <a:pt x="262075" y="110258"/>
                  </a:cubicBezTo>
                  <a:lnTo>
                    <a:pt x="262075" y="110258"/>
                  </a:lnTo>
                  <a:cubicBezTo>
                    <a:pt x="262075" y="171151"/>
                    <a:pt x="212711" y="220515"/>
                    <a:pt x="151817" y="220515"/>
                  </a:cubicBezTo>
                  <a:lnTo>
                    <a:pt x="110258" y="220515"/>
                  </a:lnTo>
                  <a:cubicBezTo>
                    <a:pt x="49364" y="220515"/>
                    <a:pt x="0" y="171151"/>
                    <a:pt x="0" y="110258"/>
                  </a:cubicBezTo>
                  <a:lnTo>
                    <a:pt x="0" y="110258"/>
                  </a:lnTo>
                  <a:cubicBezTo>
                    <a:pt x="0" y="49364"/>
                    <a:pt x="49364" y="0"/>
                    <a:pt x="110258" y="0"/>
                  </a:cubicBezTo>
                  <a:close/>
                </a:path>
              </a:pathLst>
            </a:custGeom>
            <a:solidFill>
              <a:srgbClr val="E5E6D0"/>
            </a:solidFill>
            <a:ln w="19050" cap="sq">
              <a:solidFill>
                <a:srgbClr val="D3E4E7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62075" cy="258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559356" y="2538676"/>
            <a:ext cx="5545448" cy="632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58"/>
              </a:lnSpc>
              <a:spcBef>
                <a:spcPct val="0"/>
              </a:spcBef>
            </a:pPr>
            <a:r>
              <a:rPr lang="en-US" b="true" sz="4699" spc="-9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Quantitative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391777" y="2567608"/>
            <a:ext cx="835026" cy="560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73"/>
              </a:lnSpc>
              <a:spcBef>
                <a:spcPct val="0"/>
              </a:spcBef>
            </a:pPr>
            <a:r>
              <a:rPr lang="en-US" b="true" sz="4199" spc="-8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02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482539" y="2191031"/>
            <a:ext cx="7407004" cy="7679384"/>
            <a:chOff x="0" y="0"/>
            <a:chExt cx="2138632" cy="221727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38632" cy="2217277"/>
            </a:xfrm>
            <a:custGeom>
              <a:avLst/>
              <a:gdLst/>
              <a:ahLst/>
              <a:cxnLst/>
              <a:rect r="r" b="b" t="t" l="l"/>
              <a:pathLst>
                <a:path h="2217277" w="2138632">
                  <a:moveTo>
                    <a:pt x="18814" y="0"/>
                  </a:moveTo>
                  <a:lnTo>
                    <a:pt x="2119818" y="0"/>
                  </a:lnTo>
                  <a:cubicBezTo>
                    <a:pt x="2124808" y="0"/>
                    <a:pt x="2129593" y="1982"/>
                    <a:pt x="2133121" y="5510"/>
                  </a:cubicBezTo>
                  <a:cubicBezTo>
                    <a:pt x="2136650" y="9039"/>
                    <a:pt x="2138632" y="13824"/>
                    <a:pt x="2138632" y="18814"/>
                  </a:cubicBezTo>
                  <a:lnTo>
                    <a:pt x="2138632" y="2198463"/>
                  </a:lnTo>
                  <a:cubicBezTo>
                    <a:pt x="2138632" y="2208853"/>
                    <a:pt x="2130209" y="2217277"/>
                    <a:pt x="2119818" y="2217277"/>
                  </a:cubicBezTo>
                  <a:lnTo>
                    <a:pt x="18814" y="2217277"/>
                  </a:lnTo>
                  <a:cubicBezTo>
                    <a:pt x="8423" y="2217277"/>
                    <a:pt x="0" y="2208853"/>
                    <a:pt x="0" y="2198463"/>
                  </a:cubicBezTo>
                  <a:lnTo>
                    <a:pt x="0" y="18814"/>
                  </a:lnTo>
                  <a:cubicBezTo>
                    <a:pt x="0" y="8423"/>
                    <a:pt x="8423" y="0"/>
                    <a:pt x="18814" y="0"/>
                  </a:cubicBezTo>
                  <a:close/>
                </a:path>
              </a:pathLst>
            </a:custGeom>
            <a:solidFill>
              <a:srgbClr val="C8DEE2"/>
            </a:solidFill>
            <a:ln w="19050" cap="sq">
              <a:solidFill>
                <a:srgbClr val="D3E4E7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138632" cy="22553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89852" y="2410846"/>
            <a:ext cx="907678" cy="763740"/>
            <a:chOff x="0" y="0"/>
            <a:chExt cx="262075" cy="22051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62075" cy="220515"/>
            </a:xfrm>
            <a:custGeom>
              <a:avLst/>
              <a:gdLst/>
              <a:ahLst/>
              <a:cxnLst/>
              <a:rect r="r" b="b" t="t" l="l"/>
              <a:pathLst>
                <a:path h="220515" w="262075">
                  <a:moveTo>
                    <a:pt x="110258" y="0"/>
                  </a:moveTo>
                  <a:lnTo>
                    <a:pt x="151817" y="0"/>
                  </a:lnTo>
                  <a:cubicBezTo>
                    <a:pt x="212711" y="0"/>
                    <a:pt x="262075" y="49364"/>
                    <a:pt x="262075" y="110258"/>
                  </a:cubicBezTo>
                  <a:lnTo>
                    <a:pt x="262075" y="110258"/>
                  </a:lnTo>
                  <a:cubicBezTo>
                    <a:pt x="262075" y="171151"/>
                    <a:pt x="212711" y="220515"/>
                    <a:pt x="151817" y="220515"/>
                  </a:cubicBezTo>
                  <a:lnTo>
                    <a:pt x="110258" y="220515"/>
                  </a:lnTo>
                  <a:cubicBezTo>
                    <a:pt x="49364" y="220515"/>
                    <a:pt x="0" y="171151"/>
                    <a:pt x="0" y="110258"/>
                  </a:cubicBezTo>
                  <a:lnTo>
                    <a:pt x="0" y="110258"/>
                  </a:lnTo>
                  <a:cubicBezTo>
                    <a:pt x="0" y="49364"/>
                    <a:pt x="49364" y="0"/>
                    <a:pt x="110258" y="0"/>
                  </a:cubicBezTo>
                  <a:close/>
                </a:path>
              </a:pathLst>
            </a:custGeom>
            <a:solidFill>
              <a:srgbClr val="E5E6D0"/>
            </a:solidFill>
            <a:ln w="19050" cap="sq">
              <a:solidFill>
                <a:srgbClr val="D3E4E7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62075" cy="258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2099254" y="2859821"/>
            <a:ext cx="6173575" cy="6815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5065" indent="-302533" lvl="1">
              <a:lnSpc>
                <a:spcPts val="5941"/>
              </a:lnSpc>
              <a:buFont typeface="Arial"/>
              <a:buChar char="•"/>
            </a:pPr>
            <a:r>
              <a:rPr lang="en-US" sz="2802" spc="-8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15-20 min </a:t>
            </a:r>
            <a:r>
              <a:rPr lang="en-US" b="true" sz="2802" spc="-8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Semi-structured interviews  </a:t>
            </a:r>
            <a:r>
              <a:rPr lang="en-US" sz="2802" spc="-8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(physical + online)</a:t>
            </a:r>
          </a:p>
          <a:p>
            <a:pPr algn="l" marL="605065" indent="-302533" lvl="1">
              <a:lnSpc>
                <a:spcPts val="5941"/>
              </a:lnSpc>
              <a:buFont typeface="Arial"/>
              <a:buChar char="•"/>
            </a:pPr>
            <a:r>
              <a:rPr lang="en-US" sz="2802" spc="-8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Four thematic areas : </a:t>
            </a:r>
          </a:p>
          <a:p>
            <a:pPr algn="l">
              <a:lnSpc>
                <a:spcPts val="5941"/>
              </a:lnSpc>
            </a:pPr>
            <a:r>
              <a:rPr lang="en-US" sz="2802" spc="-8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</a:t>
            </a:r>
            <a:r>
              <a:rPr lang="en-US" sz="2802" spc="-8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(1) </a:t>
            </a:r>
            <a:r>
              <a:rPr lang="en-US" sz="2802" spc="-8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usability concerns</a:t>
            </a:r>
            <a:r>
              <a:rPr lang="en-US" sz="2802" spc="-8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</a:p>
          <a:p>
            <a:pPr algn="l">
              <a:lnSpc>
                <a:spcPts val="5941"/>
              </a:lnSpc>
            </a:pPr>
            <a:r>
              <a:rPr lang="en-US" sz="2802" spc="-8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(2) </a:t>
            </a:r>
            <a:r>
              <a:rPr lang="en-US" sz="2802" spc="-8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impact on adoption</a:t>
            </a:r>
            <a:r>
              <a:rPr lang="en-US" sz="2802" spc="-8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</a:p>
          <a:p>
            <a:pPr algn="l">
              <a:lnSpc>
                <a:spcPts val="5941"/>
              </a:lnSpc>
            </a:pPr>
            <a:r>
              <a:rPr lang="en-US" sz="2802" spc="-8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(3) </a:t>
            </a:r>
            <a:r>
              <a:rPr lang="en-US" sz="2802" spc="-8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institutional support</a:t>
            </a:r>
            <a:r>
              <a:rPr lang="en-US" sz="2802" spc="-8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</a:p>
          <a:p>
            <a:pPr algn="l">
              <a:lnSpc>
                <a:spcPts val="5941"/>
              </a:lnSpc>
            </a:pPr>
            <a:r>
              <a:rPr lang="en-US" sz="2802" spc="-8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(4) </a:t>
            </a:r>
            <a:r>
              <a:rPr lang="en-US" sz="2802" spc="-8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recommendations</a:t>
            </a:r>
            <a:r>
              <a:rPr lang="en-US" sz="2802" spc="-8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algn="l" marL="605065" indent="-302533" lvl="1">
              <a:lnSpc>
                <a:spcPts val="5941"/>
              </a:lnSpc>
              <a:buFont typeface="Arial"/>
              <a:buChar char="•"/>
            </a:pPr>
            <a:r>
              <a:rPr lang="en-US" sz="2802" spc="-8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Iterative coding by 4 raters where </a:t>
            </a:r>
          </a:p>
          <a:p>
            <a:pPr algn="l">
              <a:lnSpc>
                <a:spcPts val="7001"/>
              </a:lnSpc>
            </a:pPr>
            <a:r>
              <a:rPr lang="en-US" sz="3302" spc="-10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</a:t>
            </a:r>
            <a:r>
              <a:rPr lang="en-US" sz="3302" spc="-105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K-value is 0.9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432315" y="2462778"/>
            <a:ext cx="5058443" cy="631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14"/>
              </a:lnSpc>
              <a:spcBef>
                <a:spcPct val="0"/>
              </a:spcBef>
            </a:pPr>
            <a:r>
              <a:rPr lang="en-US" b="true" sz="4654" spc="-9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Qualitative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89852" y="2529151"/>
            <a:ext cx="861012" cy="593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20"/>
              </a:lnSpc>
              <a:spcBef>
                <a:spcPct val="0"/>
              </a:spcBef>
            </a:pPr>
            <a:r>
              <a:rPr lang="en-US" b="true" sz="4350" spc="-8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01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030497" y="2914740"/>
            <a:ext cx="6752294" cy="6692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3750" indent="-301875" lvl="1">
              <a:lnSpc>
                <a:spcPts val="6683"/>
              </a:lnSpc>
              <a:buFont typeface="Arial"/>
              <a:buChar char="•"/>
            </a:pPr>
            <a:r>
              <a:rPr lang="en-US" sz="279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Structured survey derived from the qualitative themes.</a:t>
            </a:r>
          </a:p>
          <a:p>
            <a:pPr algn="l" marL="603750" indent="-301875" lvl="1">
              <a:lnSpc>
                <a:spcPts val="6683"/>
              </a:lnSpc>
              <a:buFont typeface="Arial"/>
              <a:buChar char="•"/>
            </a:pPr>
            <a:r>
              <a:rPr lang="en-US" sz="279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 variable questions mapped to 7 hypotheses.</a:t>
            </a:r>
          </a:p>
          <a:p>
            <a:pPr algn="l" marL="603750" indent="-301875" lvl="1">
              <a:lnSpc>
                <a:spcPts val="6683"/>
              </a:lnSpc>
              <a:buFont typeface="Arial"/>
              <a:buChar char="•"/>
            </a:pPr>
            <a:r>
              <a:rPr lang="en-US" sz="279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Mixed item formats : analyzed with </a:t>
            </a:r>
            <a:r>
              <a:rPr lang="en-US" b="true" sz="279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One-Tailed T-Tests</a:t>
            </a:r>
            <a:r>
              <a:rPr lang="en-US" sz="279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</a:t>
            </a:r>
            <a:r>
              <a:rPr lang="en-US" b="true" sz="279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Chi-Square Tests</a:t>
            </a:r>
            <a:r>
              <a:rPr lang="en-US" sz="279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algn="l">
              <a:lnSpc>
                <a:spcPts val="6683"/>
              </a:lnSpc>
            </a:pPr>
            <a:r>
              <a:rPr lang="en-US" sz="279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(one item via thematic analysis).</a:t>
            </a:r>
          </a:p>
          <a:p>
            <a:pPr algn="l">
              <a:lnSpc>
                <a:spcPts val="6683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3199" y="2425658"/>
            <a:ext cx="8790863" cy="5435684"/>
          </a:xfrm>
          <a:custGeom>
            <a:avLst/>
            <a:gdLst/>
            <a:ahLst/>
            <a:cxnLst/>
            <a:rect r="r" b="b" t="t" l="l"/>
            <a:pathLst>
              <a:path h="5435684" w="8790863">
                <a:moveTo>
                  <a:pt x="0" y="0"/>
                </a:moveTo>
                <a:lnTo>
                  <a:pt x="8790863" y="0"/>
                </a:lnTo>
                <a:lnTo>
                  <a:pt x="8790863" y="5435684"/>
                </a:lnTo>
                <a:lnTo>
                  <a:pt x="0" y="54356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251520" y="2425658"/>
            <a:ext cx="8790863" cy="5435684"/>
          </a:xfrm>
          <a:custGeom>
            <a:avLst/>
            <a:gdLst/>
            <a:ahLst/>
            <a:cxnLst/>
            <a:rect r="r" b="b" t="t" l="l"/>
            <a:pathLst>
              <a:path h="5435684" w="8790863">
                <a:moveTo>
                  <a:pt x="0" y="0"/>
                </a:moveTo>
                <a:lnTo>
                  <a:pt x="8790863" y="0"/>
                </a:lnTo>
                <a:lnTo>
                  <a:pt x="8790863" y="5435684"/>
                </a:lnTo>
                <a:lnTo>
                  <a:pt x="0" y="54356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28748" y="772970"/>
            <a:ext cx="16030504" cy="1002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00"/>
              </a:lnSpc>
            </a:pPr>
            <a:r>
              <a:rPr lang="en-US" b="true" sz="7200" spc="-288">
                <a:gradFill>
                  <a:gsLst>
                    <a:gs pos="0">
                      <a:srgbClr val="032A33">
                        <a:alpha val="100000"/>
                      </a:srgbClr>
                    </a:gs>
                    <a:gs pos="100000">
                      <a:srgbClr val="106470">
                        <a:alpha val="100000"/>
                      </a:srgbClr>
                    </a:gs>
                  </a:gsLst>
                  <a:lin ang="5400000"/>
                </a:gradFill>
                <a:latin typeface="Times New Roman Bold"/>
                <a:ea typeface="Times New Roman Bold"/>
                <a:cs typeface="Times New Roman Bold"/>
                <a:sym typeface="Times New Roman Bold"/>
              </a:rPr>
              <a:t>Qualitative Dataset Demographic (n=34)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926126" y="8108519"/>
            <a:ext cx="4589979" cy="515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09"/>
              </a:lnSpc>
              <a:spcBef>
                <a:spcPct val="0"/>
              </a:spcBef>
            </a:pPr>
            <a:r>
              <a:rPr lang="en-US" b="true" sz="2935">
                <a:solidFill>
                  <a:srgbClr val="032A3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Figure : LMS Usage timeline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46319" y="8098994"/>
            <a:ext cx="8484623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32A3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Figure : LMS Platform Usage Patterns-1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81599" y="2562256"/>
            <a:ext cx="8527122" cy="5272604"/>
          </a:xfrm>
          <a:custGeom>
            <a:avLst/>
            <a:gdLst/>
            <a:ahLst/>
            <a:cxnLst/>
            <a:rect r="r" b="b" t="t" l="l"/>
            <a:pathLst>
              <a:path h="5272604" w="8527122">
                <a:moveTo>
                  <a:pt x="0" y="0"/>
                </a:moveTo>
                <a:lnTo>
                  <a:pt x="8527122" y="0"/>
                </a:lnTo>
                <a:lnTo>
                  <a:pt x="8527122" y="5272604"/>
                </a:lnTo>
                <a:lnTo>
                  <a:pt x="0" y="52726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251520" y="2562256"/>
            <a:ext cx="8538630" cy="5272604"/>
          </a:xfrm>
          <a:custGeom>
            <a:avLst/>
            <a:gdLst/>
            <a:ahLst/>
            <a:cxnLst/>
            <a:rect r="r" b="b" t="t" l="l"/>
            <a:pathLst>
              <a:path h="5272604" w="8538630">
                <a:moveTo>
                  <a:pt x="0" y="0"/>
                </a:moveTo>
                <a:lnTo>
                  <a:pt x="8538630" y="0"/>
                </a:lnTo>
                <a:lnTo>
                  <a:pt x="8538630" y="5272604"/>
                </a:lnTo>
                <a:lnTo>
                  <a:pt x="0" y="52726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892587"/>
            <a:ext cx="16165607" cy="1002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00"/>
              </a:lnSpc>
            </a:pPr>
            <a:r>
              <a:rPr lang="en-US" b="true" sz="7200" spc="-288">
                <a:gradFill>
                  <a:gsLst>
                    <a:gs pos="0">
                      <a:srgbClr val="032A33">
                        <a:alpha val="100000"/>
                      </a:srgbClr>
                    </a:gs>
                    <a:gs pos="100000">
                      <a:srgbClr val="106470">
                        <a:alpha val="100000"/>
                      </a:srgbClr>
                    </a:gs>
                  </a:gsLst>
                  <a:lin ang="5400000"/>
                </a:gradFill>
                <a:latin typeface="Times New Roman Bold"/>
                <a:ea typeface="Times New Roman Bold"/>
                <a:cs typeface="Times New Roman Bold"/>
                <a:sym typeface="Times New Roman Bold"/>
              </a:rPr>
              <a:t>Quantitative Dataset Demographic (n=222)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158039" y="8108519"/>
            <a:ext cx="4949547" cy="532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49"/>
              </a:lnSpc>
              <a:spcBef>
                <a:spcPct val="0"/>
              </a:spcBef>
            </a:pPr>
            <a:r>
              <a:rPr lang="en-US" b="true" sz="3035">
                <a:solidFill>
                  <a:srgbClr val="032A3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Figure : Academic Positioning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81599" y="8100638"/>
            <a:ext cx="8484623" cy="516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b="true" sz="2900">
                <a:solidFill>
                  <a:srgbClr val="032A3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Figure : LMS Platform Usage Patterns-2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2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85322" y="2044237"/>
            <a:ext cx="5025968" cy="1217676"/>
            <a:chOff x="0" y="0"/>
            <a:chExt cx="1034150" cy="2505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4150" cy="250551"/>
            </a:xfrm>
            <a:custGeom>
              <a:avLst/>
              <a:gdLst/>
              <a:ahLst/>
              <a:cxnLst/>
              <a:rect r="r" b="b" t="t" l="l"/>
              <a:pathLst>
                <a:path h="250551" w="1034150">
                  <a:moveTo>
                    <a:pt x="30086" y="0"/>
                  </a:moveTo>
                  <a:lnTo>
                    <a:pt x="1004064" y="0"/>
                  </a:lnTo>
                  <a:cubicBezTo>
                    <a:pt x="1012043" y="0"/>
                    <a:pt x="1019696" y="3170"/>
                    <a:pt x="1025338" y="8812"/>
                  </a:cubicBezTo>
                  <a:cubicBezTo>
                    <a:pt x="1030980" y="14454"/>
                    <a:pt x="1034150" y="22106"/>
                    <a:pt x="1034150" y="30086"/>
                  </a:cubicBezTo>
                  <a:lnTo>
                    <a:pt x="1034150" y="220465"/>
                  </a:lnTo>
                  <a:cubicBezTo>
                    <a:pt x="1034150" y="237081"/>
                    <a:pt x="1020680" y="250551"/>
                    <a:pt x="1004064" y="250551"/>
                  </a:cubicBezTo>
                  <a:lnTo>
                    <a:pt x="30086" y="250551"/>
                  </a:lnTo>
                  <a:cubicBezTo>
                    <a:pt x="13470" y="250551"/>
                    <a:pt x="0" y="237081"/>
                    <a:pt x="0" y="220465"/>
                  </a:cubicBezTo>
                  <a:lnTo>
                    <a:pt x="0" y="30086"/>
                  </a:lnTo>
                  <a:cubicBezTo>
                    <a:pt x="0" y="13470"/>
                    <a:pt x="13470" y="0"/>
                    <a:pt x="30086" y="0"/>
                  </a:cubicBezTo>
                  <a:close/>
                </a:path>
              </a:pathLst>
            </a:custGeom>
            <a:solidFill>
              <a:srgbClr val="C8DEE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1034150" cy="3267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80007">
            <a:off x="3961917" y="3347168"/>
            <a:ext cx="872776" cy="718757"/>
            <a:chOff x="0" y="0"/>
            <a:chExt cx="647700" cy="533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47700" cy="533400"/>
            </a:xfrm>
            <a:custGeom>
              <a:avLst/>
              <a:gdLst/>
              <a:ahLst/>
              <a:cxnLst/>
              <a:rect r="r" b="b" t="t" l="l"/>
              <a:pathLst>
                <a:path h="533400" w="6477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618B9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20650" y="88900"/>
              <a:ext cx="527050" cy="279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341102" y="575310"/>
            <a:ext cx="13605795" cy="1002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00"/>
              </a:lnSpc>
            </a:pPr>
            <a:r>
              <a:rPr lang="en-US" b="true" sz="7200" spc="-288">
                <a:gradFill>
                  <a:gsLst>
                    <a:gs pos="0">
                      <a:srgbClr val="032A33">
                        <a:alpha val="100000"/>
                      </a:srgbClr>
                    </a:gs>
                    <a:gs pos="100000">
                      <a:srgbClr val="106470">
                        <a:alpha val="100000"/>
                      </a:srgbClr>
                    </a:gs>
                  </a:gsLst>
                  <a:lin ang="5400000"/>
                </a:gradFill>
                <a:latin typeface="Times New Roman Bold"/>
                <a:ea typeface="Times New Roman Bold"/>
                <a:cs typeface="Times New Roman Bold"/>
                <a:sym typeface="Times New Roman Bold"/>
              </a:rPr>
              <a:t>Qualitative Research Design</a:t>
            </a:r>
          </a:p>
        </p:txBody>
      </p:sp>
      <p:grpSp>
        <p:nvGrpSpPr>
          <p:cNvPr name="Group 9" id="9"/>
          <p:cNvGrpSpPr/>
          <p:nvPr/>
        </p:nvGrpSpPr>
        <p:grpSpPr>
          <a:xfrm rot="-5480007">
            <a:off x="3961917" y="7413136"/>
            <a:ext cx="872776" cy="718757"/>
            <a:chOff x="0" y="0"/>
            <a:chExt cx="647700" cy="533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47700" cy="533400"/>
            </a:xfrm>
            <a:custGeom>
              <a:avLst/>
              <a:gdLst/>
              <a:ahLst/>
              <a:cxnLst/>
              <a:rect r="r" b="b" t="t" l="l"/>
              <a:pathLst>
                <a:path h="533400" w="6477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618B93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20650" y="88900"/>
              <a:ext cx="527050" cy="279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7565977" y="2598185"/>
            <a:ext cx="10078422" cy="5970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0868" indent="-330434" lvl="1">
              <a:lnSpc>
                <a:spcPts val="428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6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RQ1: </a:t>
            </a:r>
            <a:r>
              <a:rPr lang="en-US" sz="30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are the contextual factors unique to </a:t>
            </a:r>
            <a:r>
              <a:rPr lang="en-US" sz="30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higher education environment that shape how students and faculty perceive and interact with LMS platforms?</a:t>
            </a:r>
          </a:p>
          <a:p>
            <a:pPr algn="l">
              <a:lnSpc>
                <a:spcPts val="4285"/>
              </a:lnSpc>
              <a:spcBef>
                <a:spcPct val="0"/>
              </a:spcBef>
            </a:pPr>
          </a:p>
          <a:p>
            <a:pPr algn="l" marL="660868" indent="-330434" lvl="1">
              <a:lnSpc>
                <a:spcPts val="428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6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RQ2: </a:t>
            </a:r>
            <a:r>
              <a:rPr lang="en-US" sz="30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do students and faculty describe the role of the LMS in supporting </a:t>
            </a:r>
            <a:r>
              <a:rPr lang="en-US" sz="30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collective and communicative dimensions of their academic experience?</a:t>
            </a:r>
            <a:r>
              <a:rPr lang="en-US" b="true" sz="306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</a:p>
          <a:p>
            <a:pPr algn="l">
              <a:lnSpc>
                <a:spcPts val="4285"/>
              </a:lnSpc>
              <a:spcBef>
                <a:spcPct val="0"/>
              </a:spcBef>
            </a:pPr>
          </a:p>
          <a:p>
            <a:pPr algn="l" marL="660868" indent="-330434" lvl="1">
              <a:lnSpc>
                <a:spcPts val="428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6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RQ3: </a:t>
            </a:r>
            <a:r>
              <a:rPr lang="en-US" sz="30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improvements do LMS users prioritize, and how do their suggested changes reflect their unmet academic and pedagogical needs?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885322" y="8217148"/>
            <a:ext cx="5025968" cy="1217676"/>
            <a:chOff x="0" y="0"/>
            <a:chExt cx="1034150" cy="25055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34150" cy="250551"/>
            </a:xfrm>
            <a:custGeom>
              <a:avLst/>
              <a:gdLst/>
              <a:ahLst/>
              <a:cxnLst/>
              <a:rect r="r" b="b" t="t" l="l"/>
              <a:pathLst>
                <a:path h="250551" w="1034150">
                  <a:moveTo>
                    <a:pt x="30086" y="0"/>
                  </a:moveTo>
                  <a:lnTo>
                    <a:pt x="1004064" y="0"/>
                  </a:lnTo>
                  <a:cubicBezTo>
                    <a:pt x="1012043" y="0"/>
                    <a:pt x="1019696" y="3170"/>
                    <a:pt x="1025338" y="8812"/>
                  </a:cubicBezTo>
                  <a:cubicBezTo>
                    <a:pt x="1030980" y="14454"/>
                    <a:pt x="1034150" y="22106"/>
                    <a:pt x="1034150" y="30086"/>
                  </a:cubicBezTo>
                  <a:lnTo>
                    <a:pt x="1034150" y="220465"/>
                  </a:lnTo>
                  <a:cubicBezTo>
                    <a:pt x="1034150" y="237081"/>
                    <a:pt x="1020680" y="250551"/>
                    <a:pt x="1004064" y="250551"/>
                  </a:cubicBezTo>
                  <a:lnTo>
                    <a:pt x="30086" y="250551"/>
                  </a:lnTo>
                  <a:cubicBezTo>
                    <a:pt x="13470" y="250551"/>
                    <a:pt x="0" y="237081"/>
                    <a:pt x="0" y="220465"/>
                  </a:cubicBezTo>
                  <a:lnTo>
                    <a:pt x="0" y="30086"/>
                  </a:lnTo>
                  <a:cubicBezTo>
                    <a:pt x="0" y="13470"/>
                    <a:pt x="13470" y="0"/>
                    <a:pt x="30086" y="0"/>
                  </a:cubicBezTo>
                  <a:close/>
                </a:path>
              </a:pathLst>
            </a:custGeom>
            <a:solidFill>
              <a:srgbClr val="C8DEE2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76200"/>
              <a:ext cx="1034150" cy="3267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885322" y="6215622"/>
            <a:ext cx="5025968" cy="1217676"/>
            <a:chOff x="0" y="0"/>
            <a:chExt cx="1034150" cy="25055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34150" cy="250551"/>
            </a:xfrm>
            <a:custGeom>
              <a:avLst/>
              <a:gdLst/>
              <a:ahLst/>
              <a:cxnLst/>
              <a:rect r="r" b="b" t="t" l="l"/>
              <a:pathLst>
                <a:path h="250551" w="1034150">
                  <a:moveTo>
                    <a:pt x="30086" y="0"/>
                  </a:moveTo>
                  <a:lnTo>
                    <a:pt x="1004064" y="0"/>
                  </a:lnTo>
                  <a:cubicBezTo>
                    <a:pt x="1012043" y="0"/>
                    <a:pt x="1019696" y="3170"/>
                    <a:pt x="1025338" y="8812"/>
                  </a:cubicBezTo>
                  <a:cubicBezTo>
                    <a:pt x="1030980" y="14454"/>
                    <a:pt x="1034150" y="22106"/>
                    <a:pt x="1034150" y="30086"/>
                  </a:cubicBezTo>
                  <a:lnTo>
                    <a:pt x="1034150" y="220465"/>
                  </a:lnTo>
                  <a:cubicBezTo>
                    <a:pt x="1034150" y="237081"/>
                    <a:pt x="1020680" y="250551"/>
                    <a:pt x="1004064" y="250551"/>
                  </a:cubicBezTo>
                  <a:lnTo>
                    <a:pt x="30086" y="250551"/>
                  </a:lnTo>
                  <a:cubicBezTo>
                    <a:pt x="13470" y="250551"/>
                    <a:pt x="0" y="237081"/>
                    <a:pt x="0" y="220465"/>
                  </a:cubicBezTo>
                  <a:lnTo>
                    <a:pt x="0" y="30086"/>
                  </a:lnTo>
                  <a:cubicBezTo>
                    <a:pt x="0" y="13470"/>
                    <a:pt x="13470" y="0"/>
                    <a:pt x="30086" y="0"/>
                  </a:cubicBezTo>
                  <a:close/>
                </a:path>
              </a:pathLst>
            </a:custGeom>
            <a:solidFill>
              <a:srgbClr val="C8DEE2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76200"/>
              <a:ext cx="1034150" cy="3267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885322" y="4151179"/>
            <a:ext cx="5025968" cy="1217676"/>
            <a:chOff x="0" y="0"/>
            <a:chExt cx="1034150" cy="25055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34150" cy="250551"/>
            </a:xfrm>
            <a:custGeom>
              <a:avLst/>
              <a:gdLst/>
              <a:ahLst/>
              <a:cxnLst/>
              <a:rect r="r" b="b" t="t" l="l"/>
              <a:pathLst>
                <a:path h="250551" w="1034150">
                  <a:moveTo>
                    <a:pt x="30086" y="0"/>
                  </a:moveTo>
                  <a:lnTo>
                    <a:pt x="1004064" y="0"/>
                  </a:lnTo>
                  <a:cubicBezTo>
                    <a:pt x="1012043" y="0"/>
                    <a:pt x="1019696" y="3170"/>
                    <a:pt x="1025338" y="8812"/>
                  </a:cubicBezTo>
                  <a:cubicBezTo>
                    <a:pt x="1030980" y="14454"/>
                    <a:pt x="1034150" y="22106"/>
                    <a:pt x="1034150" y="30086"/>
                  </a:cubicBezTo>
                  <a:lnTo>
                    <a:pt x="1034150" y="220465"/>
                  </a:lnTo>
                  <a:cubicBezTo>
                    <a:pt x="1034150" y="237081"/>
                    <a:pt x="1020680" y="250551"/>
                    <a:pt x="1004064" y="250551"/>
                  </a:cubicBezTo>
                  <a:lnTo>
                    <a:pt x="30086" y="250551"/>
                  </a:lnTo>
                  <a:cubicBezTo>
                    <a:pt x="13470" y="250551"/>
                    <a:pt x="0" y="237081"/>
                    <a:pt x="0" y="220465"/>
                  </a:cubicBezTo>
                  <a:lnTo>
                    <a:pt x="0" y="30086"/>
                  </a:lnTo>
                  <a:cubicBezTo>
                    <a:pt x="0" y="13470"/>
                    <a:pt x="13470" y="0"/>
                    <a:pt x="30086" y="0"/>
                  </a:cubicBezTo>
                  <a:close/>
                </a:path>
              </a:pathLst>
            </a:custGeom>
            <a:solidFill>
              <a:srgbClr val="C8DEE2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76200"/>
              <a:ext cx="1034150" cy="3267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-5480007">
            <a:off x="3961917" y="5434101"/>
            <a:ext cx="872776" cy="718757"/>
            <a:chOff x="0" y="0"/>
            <a:chExt cx="647700" cy="533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47700" cy="533400"/>
            </a:xfrm>
            <a:custGeom>
              <a:avLst/>
              <a:gdLst/>
              <a:ahLst/>
              <a:cxnLst/>
              <a:rect r="r" b="b" t="t" l="l"/>
              <a:pathLst>
                <a:path h="533400" w="6477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618B93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120650" y="88900"/>
              <a:ext cx="527050" cy="279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5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028700" y="2190802"/>
            <a:ext cx="6885584" cy="748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66"/>
              </a:lnSpc>
              <a:spcBef>
                <a:spcPct val="0"/>
              </a:spcBef>
            </a:pPr>
            <a:r>
              <a:rPr lang="en-US" b="true" sz="426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 Questions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55514" y="4395678"/>
            <a:ext cx="6885584" cy="633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86"/>
              </a:lnSpc>
              <a:spcBef>
                <a:spcPct val="0"/>
              </a:spcBef>
            </a:pPr>
            <a:r>
              <a:rPr lang="en-US" b="true" sz="356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Interview Questionnarie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55514" y="8390844"/>
            <a:ext cx="6885584" cy="748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66"/>
              </a:lnSpc>
              <a:spcBef>
                <a:spcPct val="0"/>
              </a:spcBef>
            </a:pPr>
            <a:r>
              <a:rPr lang="en-US" b="true" sz="426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Themes Generation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30634" y="6425830"/>
            <a:ext cx="6335344" cy="692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6"/>
              </a:lnSpc>
              <a:spcBef>
                <a:spcPct val="0"/>
              </a:spcBef>
            </a:pPr>
            <a:r>
              <a:rPr lang="en-US" b="true" sz="386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Conduct Interviews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5239534"/>
            <a:ext cx="1547154" cy="1991047"/>
            <a:chOff x="0" y="0"/>
            <a:chExt cx="533636" cy="68674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33636" cy="686741"/>
            </a:xfrm>
            <a:custGeom>
              <a:avLst/>
              <a:gdLst/>
              <a:ahLst/>
              <a:cxnLst/>
              <a:rect r="r" b="b" t="t" l="l"/>
              <a:pathLst>
                <a:path h="686741" w="533636">
                  <a:moveTo>
                    <a:pt x="97734" y="0"/>
                  </a:moveTo>
                  <a:lnTo>
                    <a:pt x="435902" y="0"/>
                  </a:lnTo>
                  <a:cubicBezTo>
                    <a:pt x="461823" y="0"/>
                    <a:pt x="486682" y="10297"/>
                    <a:pt x="505011" y="28626"/>
                  </a:cubicBezTo>
                  <a:cubicBezTo>
                    <a:pt x="523339" y="46954"/>
                    <a:pt x="533636" y="71813"/>
                    <a:pt x="533636" y="97734"/>
                  </a:cubicBezTo>
                  <a:lnTo>
                    <a:pt x="533636" y="589008"/>
                  </a:lnTo>
                  <a:cubicBezTo>
                    <a:pt x="533636" y="642984"/>
                    <a:pt x="489879" y="686741"/>
                    <a:pt x="435902" y="686741"/>
                  </a:cubicBezTo>
                  <a:lnTo>
                    <a:pt x="97734" y="686741"/>
                  </a:lnTo>
                  <a:cubicBezTo>
                    <a:pt x="71813" y="686741"/>
                    <a:pt x="46954" y="676444"/>
                    <a:pt x="28626" y="658116"/>
                  </a:cubicBezTo>
                  <a:cubicBezTo>
                    <a:pt x="10297" y="639787"/>
                    <a:pt x="0" y="614928"/>
                    <a:pt x="0" y="589008"/>
                  </a:cubicBezTo>
                  <a:lnTo>
                    <a:pt x="0" y="97734"/>
                  </a:lnTo>
                  <a:cubicBezTo>
                    <a:pt x="0" y="71813"/>
                    <a:pt x="10297" y="46954"/>
                    <a:pt x="28626" y="28626"/>
                  </a:cubicBezTo>
                  <a:cubicBezTo>
                    <a:pt x="46954" y="10297"/>
                    <a:pt x="71813" y="0"/>
                    <a:pt x="97734" y="0"/>
                  </a:cubicBezTo>
                  <a:close/>
                </a:path>
              </a:pathLst>
            </a:custGeom>
            <a:solidFill>
              <a:srgbClr val="C8DEE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33636" cy="7438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b="true" sz="2199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Research Themes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936237" y="3947455"/>
            <a:ext cx="2075346" cy="1590131"/>
            <a:chOff x="0" y="0"/>
            <a:chExt cx="713053" cy="54634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13053" cy="546341"/>
            </a:xfrm>
            <a:custGeom>
              <a:avLst/>
              <a:gdLst/>
              <a:ahLst/>
              <a:cxnLst/>
              <a:rect r="r" b="b" t="t" l="l"/>
              <a:pathLst>
                <a:path h="546341" w="713053">
                  <a:moveTo>
                    <a:pt x="72860" y="0"/>
                  </a:moveTo>
                  <a:lnTo>
                    <a:pt x="640193" y="0"/>
                  </a:lnTo>
                  <a:cubicBezTo>
                    <a:pt x="680432" y="0"/>
                    <a:pt x="713053" y="32620"/>
                    <a:pt x="713053" y="72860"/>
                  </a:cubicBezTo>
                  <a:lnTo>
                    <a:pt x="713053" y="473481"/>
                  </a:lnTo>
                  <a:cubicBezTo>
                    <a:pt x="713053" y="492805"/>
                    <a:pt x="705376" y="511337"/>
                    <a:pt x="691713" y="525001"/>
                  </a:cubicBezTo>
                  <a:cubicBezTo>
                    <a:pt x="678049" y="538665"/>
                    <a:pt x="659516" y="546341"/>
                    <a:pt x="640193" y="546341"/>
                  </a:cubicBezTo>
                  <a:lnTo>
                    <a:pt x="72860" y="546341"/>
                  </a:lnTo>
                  <a:cubicBezTo>
                    <a:pt x="32620" y="546341"/>
                    <a:pt x="0" y="513721"/>
                    <a:pt x="0" y="473481"/>
                  </a:cubicBezTo>
                  <a:lnTo>
                    <a:pt x="0" y="72860"/>
                  </a:lnTo>
                  <a:cubicBezTo>
                    <a:pt x="0" y="32620"/>
                    <a:pt x="32620" y="0"/>
                    <a:pt x="72860" y="0"/>
                  </a:cubicBezTo>
                  <a:close/>
                </a:path>
              </a:pathLst>
            </a:custGeom>
            <a:solidFill>
              <a:srgbClr val="C8DEE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713053" cy="6130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  <a:r>
                <a:rPr lang="en-US" sz="2299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Null </a:t>
              </a:r>
            </a:p>
            <a:p>
              <a:pPr algn="ctr">
                <a:lnSpc>
                  <a:spcPts val="3219"/>
                </a:lnSpc>
              </a:pPr>
              <a:r>
                <a:rPr lang="en-US" sz="2299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Hypotheses</a:t>
              </a:r>
            </a:p>
            <a:p>
              <a:pPr algn="ctr">
                <a:lnSpc>
                  <a:spcPts val="3219"/>
                </a:lnSpc>
              </a:pPr>
              <a:r>
                <a:rPr lang="en-US" b="true" sz="2299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(H₀)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920553" y="5350050"/>
            <a:ext cx="2472727" cy="1794875"/>
            <a:chOff x="0" y="0"/>
            <a:chExt cx="852880" cy="61907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52880" cy="619079"/>
            </a:xfrm>
            <a:custGeom>
              <a:avLst/>
              <a:gdLst/>
              <a:ahLst/>
              <a:cxnLst/>
              <a:rect r="r" b="b" t="t" l="l"/>
              <a:pathLst>
                <a:path h="619079" w="852880">
                  <a:moveTo>
                    <a:pt x="61151" y="0"/>
                  </a:moveTo>
                  <a:lnTo>
                    <a:pt x="791729" y="0"/>
                  </a:lnTo>
                  <a:cubicBezTo>
                    <a:pt x="807947" y="0"/>
                    <a:pt x="823501" y="6443"/>
                    <a:pt x="834969" y="17911"/>
                  </a:cubicBezTo>
                  <a:cubicBezTo>
                    <a:pt x="846437" y="29379"/>
                    <a:pt x="852880" y="44933"/>
                    <a:pt x="852880" y="61151"/>
                  </a:cubicBezTo>
                  <a:lnTo>
                    <a:pt x="852880" y="557928"/>
                  </a:lnTo>
                  <a:cubicBezTo>
                    <a:pt x="852880" y="591700"/>
                    <a:pt x="825502" y="619079"/>
                    <a:pt x="791729" y="619079"/>
                  </a:cubicBezTo>
                  <a:lnTo>
                    <a:pt x="61151" y="619079"/>
                  </a:lnTo>
                  <a:cubicBezTo>
                    <a:pt x="44933" y="619079"/>
                    <a:pt x="29379" y="612636"/>
                    <a:pt x="17911" y="601168"/>
                  </a:cubicBezTo>
                  <a:cubicBezTo>
                    <a:pt x="6443" y="589700"/>
                    <a:pt x="0" y="574146"/>
                    <a:pt x="0" y="557928"/>
                  </a:cubicBezTo>
                  <a:lnTo>
                    <a:pt x="0" y="61151"/>
                  </a:lnTo>
                  <a:cubicBezTo>
                    <a:pt x="0" y="44933"/>
                    <a:pt x="6443" y="29379"/>
                    <a:pt x="17911" y="17911"/>
                  </a:cubicBezTo>
                  <a:cubicBezTo>
                    <a:pt x="29379" y="6443"/>
                    <a:pt x="44933" y="0"/>
                    <a:pt x="61151" y="0"/>
                  </a:cubicBezTo>
                  <a:close/>
                </a:path>
              </a:pathLst>
            </a:custGeom>
            <a:solidFill>
              <a:srgbClr val="C8DEE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852880" cy="6762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Survey </a:t>
              </a:r>
            </a:p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Questionnarie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920553" y="7900590"/>
            <a:ext cx="2472727" cy="1593039"/>
            <a:chOff x="0" y="0"/>
            <a:chExt cx="852880" cy="54946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52880" cy="549463"/>
            </a:xfrm>
            <a:custGeom>
              <a:avLst/>
              <a:gdLst/>
              <a:ahLst/>
              <a:cxnLst/>
              <a:rect r="r" b="b" t="t" l="l"/>
              <a:pathLst>
                <a:path h="549463" w="852880">
                  <a:moveTo>
                    <a:pt x="61151" y="0"/>
                  </a:moveTo>
                  <a:lnTo>
                    <a:pt x="791729" y="0"/>
                  </a:lnTo>
                  <a:cubicBezTo>
                    <a:pt x="807947" y="0"/>
                    <a:pt x="823501" y="6443"/>
                    <a:pt x="834969" y="17911"/>
                  </a:cubicBezTo>
                  <a:cubicBezTo>
                    <a:pt x="846437" y="29379"/>
                    <a:pt x="852880" y="44933"/>
                    <a:pt x="852880" y="61151"/>
                  </a:cubicBezTo>
                  <a:lnTo>
                    <a:pt x="852880" y="488312"/>
                  </a:lnTo>
                  <a:cubicBezTo>
                    <a:pt x="852880" y="522084"/>
                    <a:pt x="825502" y="549463"/>
                    <a:pt x="791729" y="549463"/>
                  </a:cubicBezTo>
                  <a:lnTo>
                    <a:pt x="61151" y="549463"/>
                  </a:lnTo>
                  <a:cubicBezTo>
                    <a:pt x="44933" y="549463"/>
                    <a:pt x="29379" y="543020"/>
                    <a:pt x="17911" y="531552"/>
                  </a:cubicBezTo>
                  <a:cubicBezTo>
                    <a:pt x="6443" y="520084"/>
                    <a:pt x="0" y="504530"/>
                    <a:pt x="0" y="488312"/>
                  </a:cubicBezTo>
                  <a:lnTo>
                    <a:pt x="0" y="61151"/>
                  </a:lnTo>
                  <a:cubicBezTo>
                    <a:pt x="0" y="44933"/>
                    <a:pt x="6443" y="29379"/>
                    <a:pt x="17911" y="17911"/>
                  </a:cubicBezTo>
                  <a:cubicBezTo>
                    <a:pt x="29379" y="6443"/>
                    <a:pt x="44933" y="0"/>
                    <a:pt x="61151" y="0"/>
                  </a:cubicBezTo>
                  <a:close/>
                </a:path>
              </a:pathLst>
            </a:custGeom>
            <a:solidFill>
              <a:srgbClr val="C8DEE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852880" cy="6161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  <a:r>
                <a:rPr lang="en-US" b="true" sz="2699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Result Anlysis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-5480007">
            <a:off x="8829161" y="7329557"/>
            <a:ext cx="717606" cy="393400"/>
            <a:chOff x="0" y="0"/>
            <a:chExt cx="889251" cy="48749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89251" cy="487498"/>
            </a:xfrm>
            <a:custGeom>
              <a:avLst/>
              <a:gdLst/>
              <a:ahLst/>
              <a:cxnLst/>
              <a:rect r="r" b="b" t="t" l="l"/>
              <a:pathLst>
                <a:path h="487498" w="889251">
                  <a:moveTo>
                    <a:pt x="239386" y="166120"/>
                  </a:moveTo>
                  <a:lnTo>
                    <a:pt x="889251" y="166120"/>
                  </a:lnTo>
                  <a:lnTo>
                    <a:pt x="889251" y="321347"/>
                  </a:lnTo>
                  <a:lnTo>
                    <a:pt x="239373" y="321347"/>
                  </a:lnTo>
                  <a:lnTo>
                    <a:pt x="302255" y="487498"/>
                  </a:lnTo>
                  <a:lnTo>
                    <a:pt x="0" y="243749"/>
                  </a:lnTo>
                  <a:lnTo>
                    <a:pt x="302255" y="0"/>
                  </a:lnTo>
                  <a:lnTo>
                    <a:pt x="239386" y="166120"/>
                  </a:lnTo>
                  <a:close/>
                </a:path>
              </a:pathLst>
            </a:custGeom>
            <a:solidFill>
              <a:srgbClr val="618B93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20650" y="107950"/>
              <a:ext cx="768601" cy="214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10718116">
            <a:off x="2588567" y="5968260"/>
            <a:ext cx="478785" cy="593256"/>
            <a:chOff x="0" y="0"/>
            <a:chExt cx="592431" cy="73407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92431" cy="734072"/>
            </a:xfrm>
            <a:custGeom>
              <a:avLst/>
              <a:gdLst/>
              <a:ahLst/>
              <a:cxnLst/>
              <a:rect r="r" b="b" t="t" l="l"/>
              <a:pathLst>
                <a:path h="734072" w="592431">
                  <a:moveTo>
                    <a:pt x="239386" y="167720"/>
                  </a:moveTo>
                  <a:lnTo>
                    <a:pt x="592431" y="167720"/>
                  </a:lnTo>
                  <a:lnTo>
                    <a:pt x="592431" y="566274"/>
                  </a:lnTo>
                  <a:lnTo>
                    <a:pt x="239373" y="566274"/>
                  </a:lnTo>
                  <a:lnTo>
                    <a:pt x="302255" y="734072"/>
                  </a:lnTo>
                  <a:lnTo>
                    <a:pt x="0" y="367036"/>
                  </a:lnTo>
                  <a:lnTo>
                    <a:pt x="302255" y="0"/>
                  </a:lnTo>
                  <a:lnTo>
                    <a:pt x="239386" y="167720"/>
                  </a:lnTo>
                  <a:close/>
                </a:path>
              </a:pathLst>
            </a:custGeom>
            <a:solidFill>
              <a:srgbClr val="618B93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20650" y="107950"/>
              <a:ext cx="471781" cy="4610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051750" y="5239534"/>
            <a:ext cx="1845851" cy="1905391"/>
            <a:chOff x="0" y="0"/>
            <a:chExt cx="636661" cy="65719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36661" cy="657197"/>
            </a:xfrm>
            <a:custGeom>
              <a:avLst/>
              <a:gdLst/>
              <a:ahLst/>
              <a:cxnLst/>
              <a:rect r="r" b="b" t="t" l="l"/>
              <a:pathLst>
                <a:path h="657197" w="636661">
                  <a:moveTo>
                    <a:pt x="81919" y="0"/>
                  </a:moveTo>
                  <a:lnTo>
                    <a:pt x="554743" y="0"/>
                  </a:lnTo>
                  <a:cubicBezTo>
                    <a:pt x="599985" y="0"/>
                    <a:pt x="636661" y="36676"/>
                    <a:pt x="636661" y="81919"/>
                  </a:cubicBezTo>
                  <a:lnTo>
                    <a:pt x="636661" y="575279"/>
                  </a:lnTo>
                  <a:cubicBezTo>
                    <a:pt x="636661" y="620521"/>
                    <a:pt x="599985" y="657197"/>
                    <a:pt x="554743" y="657197"/>
                  </a:cubicBezTo>
                  <a:lnTo>
                    <a:pt x="81919" y="657197"/>
                  </a:lnTo>
                  <a:cubicBezTo>
                    <a:pt x="60192" y="657197"/>
                    <a:pt x="39356" y="648567"/>
                    <a:pt x="23993" y="633204"/>
                  </a:cubicBezTo>
                  <a:cubicBezTo>
                    <a:pt x="8631" y="617841"/>
                    <a:pt x="0" y="597005"/>
                    <a:pt x="0" y="575279"/>
                  </a:cubicBezTo>
                  <a:lnTo>
                    <a:pt x="0" y="81919"/>
                  </a:lnTo>
                  <a:cubicBezTo>
                    <a:pt x="0" y="36676"/>
                    <a:pt x="36676" y="0"/>
                    <a:pt x="81919" y="0"/>
                  </a:cubicBezTo>
                  <a:close/>
                </a:path>
              </a:pathLst>
            </a:custGeom>
            <a:solidFill>
              <a:srgbClr val="C8DEE2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636661" cy="7238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  <a:r>
                <a:rPr lang="en-US" b="true" sz="2299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Hypotheses 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921611" y="6910710"/>
            <a:ext cx="2067331" cy="1401375"/>
            <a:chOff x="0" y="0"/>
            <a:chExt cx="713053" cy="48335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13053" cy="483355"/>
            </a:xfrm>
            <a:custGeom>
              <a:avLst/>
              <a:gdLst/>
              <a:ahLst/>
              <a:cxnLst/>
              <a:rect r="r" b="b" t="t" l="l"/>
              <a:pathLst>
                <a:path h="483355" w="713053">
                  <a:moveTo>
                    <a:pt x="73142" y="0"/>
                  </a:moveTo>
                  <a:lnTo>
                    <a:pt x="639910" y="0"/>
                  </a:lnTo>
                  <a:cubicBezTo>
                    <a:pt x="680306" y="0"/>
                    <a:pt x="713053" y="32747"/>
                    <a:pt x="713053" y="73142"/>
                  </a:cubicBezTo>
                  <a:lnTo>
                    <a:pt x="713053" y="410213"/>
                  </a:lnTo>
                  <a:cubicBezTo>
                    <a:pt x="713053" y="429611"/>
                    <a:pt x="705347" y="448215"/>
                    <a:pt x="691630" y="461932"/>
                  </a:cubicBezTo>
                  <a:cubicBezTo>
                    <a:pt x="677913" y="475649"/>
                    <a:pt x="659309" y="483355"/>
                    <a:pt x="639910" y="483355"/>
                  </a:cubicBezTo>
                  <a:lnTo>
                    <a:pt x="73142" y="483355"/>
                  </a:lnTo>
                  <a:cubicBezTo>
                    <a:pt x="53744" y="483355"/>
                    <a:pt x="35140" y="475649"/>
                    <a:pt x="21423" y="461932"/>
                  </a:cubicBezTo>
                  <a:cubicBezTo>
                    <a:pt x="7706" y="448215"/>
                    <a:pt x="0" y="429611"/>
                    <a:pt x="0" y="410213"/>
                  </a:cubicBezTo>
                  <a:lnTo>
                    <a:pt x="0" y="73142"/>
                  </a:lnTo>
                  <a:cubicBezTo>
                    <a:pt x="0" y="53744"/>
                    <a:pt x="7706" y="35140"/>
                    <a:pt x="21423" y="21423"/>
                  </a:cubicBezTo>
                  <a:cubicBezTo>
                    <a:pt x="35140" y="7706"/>
                    <a:pt x="53744" y="0"/>
                    <a:pt x="73142" y="0"/>
                  </a:cubicBezTo>
                  <a:close/>
                </a:path>
              </a:pathLst>
            </a:custGeom>
            <a:solidFill>
              <a:srgbClr val="C8DEE2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713053" cy="5405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399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Alternative Hypothesis</a:t>
              </a:r>
            </a:p>
            <a:p>
              <a:pPr algn="ctr">
                <a:lnSpc>
                  <a:spcPts val="3359"/>
                </a:lnSpc>
              </a:pPr>
              <a:r>
                <a:rPr lang="en-US" b="true" sz="2399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(H₁)</a:t>
              </a:r>
            </a:p>
          </p:txBody>
        </p:sp>
      </p:grpSp>
      <p:sp>
        <p:nvSpPr>
          <p:cNvPr name="Freeform 26" id="26"/>
          <p:cNvSpPr/>
          <p:nvPr/>
        </p:nvSpPr>
        <p:spPr>
          <a:xfrm>
            <a:off x="3603525" y="7144925"/>
            <a:ext cx="1318086" cy="466472"/>
          </a:xfrm>
          <a:custGeom>
            <a:avLst/>
            <a:gdLst/>
            <a:ahLst/>
            <a:cxnLst/>
            <a:rect r="r" b="b" t="t" l="l"/>
            <a:pathLst>
              <a:path h="466472" w="1318086">
                <a:moveTo>
                  <a:pt x="0" y="0"/>
                </a:moveTo>
                <a:lnTo>
                  <a:pt x="0" y="333122"/>
                </a:lnTo>
                <a:cubicBezTo>
                  <a:pt x="0" y="368489"/>
                  <a:pt x="14050" y="402407"/>
                  <a:pt x="39058" y="427415"/>
                </a:cubicBezTo>
                <a:cubicBezTo>
                  <a:pt x="64066" y="452423"/>
                  <a:pt x="97984" y="466472"/>
                  <a:pt x="133350" y="466472"/>
                </a:cubicBezTo>
                <a:lnTo>
                  <a:pt x="1318086" y="466472"/>
                </a:lnTo>
              </a:path>
            </a:pathLst>
          </a:cu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7" id="27"/>
          <p:cNvSpPr/>
          <p:nvPr/>
        </p:nvSpPr>
        <p:spPr>
          <a:xfrm>
            <a:off x="3632115" y="4742520"/>
            <a:ext cx="1304122" cy="497013"/>
          </a:xfrm>
          <a:custGeom>
            <a:avLst/>
            <a:gdLst/>
            <a:ahLst/>
            <a:cxnLst/>
            <a:rect r="r" b="b" t="t" l="l"/>
            <a:pathLst>
              <a:path h="497013" w="1304122">
                <a:moveTo>
                  <a:pt x="0" y="497014"/>
                </a:moveTo>
                <a:lnTo>
                  <a:pt x="0" y="159564"/>
                </a:lnTo>
                <a:cubicBezTo>
                  <a:pt x="0" y="85917"/>
                  <a:pt x="59703" y="26214"/>
                  <a:pt x="133350" y="26214"/>
                </a:cubicBezTo>
                <a:lnTo>
                  <a:pt x="1291016" y="26214"/>
                </a:lnTo>
                <a:cubicBezTo>
                  <a:pt x="1298254" y="26214"/>
                  <a:pt x="1304122" y="20345"/>
                  <a:pt x="1304122" y="13107"/>
                </a:cubicBezTo>
                <a:lnTo>
                  <a:pt x="1304122" y="0"/>
                </a:lnTo>
              </a:path>
            </a:pathLst>
          </a:cu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8" id="28"/>
          <p:cNvSpPr/>
          <p:nvPr/>
        </p:nvSpPr>
        <p:spPr>
          <a:xfrm>
            <a:off x="6988942" y="6578372"/>
            <a:ext cx="931611" cy="1033025"/>
          </a:xfrm>
          <a:custGeom>
            <a:avLst/>
            <a:gdLst/>
            <a:ahLst/>
            <a:cxnLst/>
            <a:rect r="r" b="b" t="t" l="l"/>
            <a:pathLst>
              <a:path h="1033025" w="931611">
                <a:moveTo>
                  <a:pt x="931611" y="0"/>
                </a:moveTo>
                <a:lnTo>
                  <a:pt x="406880" y="0"/>
                </a:lnTo>
                <a:cubicBezTo>
                  <a:pt x="333233" y="0"/>
                  <a:pt x="273530" y="59703"/>
                  <a:pt x="273530" y="133350"/>
                </a:cubicBezTo>
                <a:lnTo>
                  <a:pt x="273530" y="899675"/>
                </a:lnTo>
                <a:cubicBezTo>
                  <a:pt x="273530" y="935042"/>
                  <a:pt x="259481" y="968960"/>
                  <a:pt x="234473" y="993968"/>
                </a:cubicBezTo>
                <a:cubicBezTo>
                  <a:pt x="209465" y="1018976"/>
                  <a:pt x="175547" y="1033025"/>
                  <a:pt x="140180" y="1033025"/>
                </a:cubicBezTo>
                <a:lnTo>
                  <a:pt x="0" y="1033025"/>
                </a:lnTo>
              </a:path>
            </a:pathLst>
          </a:cu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9" id="29"/>
          <p:cNvSpPr/>
          <p:nvPr/>
        </p:nvSpPr>
        <p:spPr>
          <a:xfrm>
            <a:off x="7011584" y="4742520"/>
            <a:ext cx="908969" cy="1231932"/>
          </a:xfrm>
          <a:custGeom>
            <a:avLst/>
            <a:gdLst/>
            <a:ahLst/>
            <a:cxnLst/>
            <a:rect r="r" b="b" t="t" l="l"/>
            <a:pathLst>
              <a:path h="1231932" w="908969">
                <a:moveTo>
                  <a:pt x="0" y="0"/>
                </a:moveTo>
                <a:lnTo>
                  <a:pt x="125444" y="0"/>
                </a:lnTo>
                <a:cubicBezTo>
                  <a:pt x="158714" y="0"/>
                  <a:pt x="190621" y="13216"/>
                  <a:pt x="214146" y="36742"/>
                </a:cubicBezTo>
                <a:cubicBezTo>
                  <a:pt x="237672" y="60267"/>
                  <a:pt x="250888" y="92174"/>
                  <a:pt x="250888" y="125444"/>
                </a:cubicBezTo>
                <a:lnTo>
                  <a:pt x="250888" y="1098582"/>
                </a:lnTo>
                <a:cubicBezTo>
                  <a:pt x="250888" y="1133949"/>
                  <a:pt x="264938" y="1167867"/>
                  <a:pt x="289946" y="1192875"/>
                </a:cubicBezTo>
                <a:cubicBezTo>
                  <a:pt x="314953" y="1217883"/>
                  <a:pt x="348871" y="1231932"/>
                  <a:pt x="384238" y="1231932"/>
                </a:cubicBezTo>
                <a:lnTo>
                  <a:pt x="908969" y="1231932"/>
                </a:lnTo>
              </a:path>
            </a:pathLst>
          </a:cu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0" id="30"/>
          <p:cNvSpPr/>
          <p:nvPr/>
        </p:nvSpPr>
        <p:spPr>
          <a:xfrm flipH="false" flipV="false" rot="0">
            <a:off x="11699767" y="1644100"/>
            <a:ext cx="5874705" cy="8112687"/>
          </a:xfrm>
          <a:custGeom>
            <a:avLst/>
            <a:gdLst/>
            <a:ahLst/>
            <a:cxnLst/>
            <a:rect r="r" b="b" t="t" l="l"/>
            <a:pathLst>
              <a:path h="8112687" w="5874705">
                <a:moveTo>
                  <a:pt x="0" y="0"/>
                </a:moveTo>
                <a:lnTo>
                  <a:pt x="5874704" y="0"/>
                </a:lnTo>
                <a:lnTo>
                  <a:pt x="5874704" y="8112688"/>
                </a:lnTo>
                <a:lnTo>
                  <a:pt x="0" y="81126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2056372" y="492911"/>
            <a:ext cx="13553246" cy="1002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00"/>
              </a:lnSpc>
            </a:pPr>
            <a:r>
              <a:rPr lang="en-US" b="true" sz="7200" spc="-288">
                <a:gradFill>
                  <a:gsLst>
                    <a:gs pos="0">
                      <a:srgbClr val="032A33">
                        <a:alpha val="100000"/>
                      </a:srgbClr>
                    </a:gs>
                    <a:gs pos="100000">
                      <a:srgbClr val="106470">
                        <a:alpha val="100000"/>
                      </a:srgbClr>
                    </a:gs>
                  </a:gsLst>
                  <a:lin ang="5400000"/>
                </a:gradFill>
                <a:latin typeface="Times New Roman Bold"/>
                <a:ea typeface="Times New Roman Bold"/>
                <a:cs typeface="Times New Roman Bold"/>
                <a:sym typeface="Times New Roman Bold"/>
              </a:rPr>
              <a:t>Quantitative Research Design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378256" y="9690113"/>
            <a:ext cx="2517725" cy="408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32A3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Fig</a:t>
            </a:r>
            <a:r>
              <a:rPr lang="en-US" b="true" sz="2299">
                <a:solidFill>
                  <a:srgbClr val="032A3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ure : Hypothesis 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30708" y="1704491"/>
            <a:ext cx="10930688" cy="2092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17"/>
              </a:lnSpc>
              <a:spcBef>
                <a:spcPct val="0"/>
              </a:spcBef>
            </a:pPr>
            <a:r>
              <a:rPr lang="en-US" sz="2369">
                <a:solidFill>
                  <a:srgbClr val="032A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Tests were conducted based on</a:t>
            </a:r>
            <a:r>
              <a:rPr lang="en-US" sz="2369">
                <a:solidFill>
                  <a:srgbClr val="032A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categorical/multi-select questions and one-sample t-tests for Likert items tested against the neutral midpoint</a:t>
            </a:r>
            <a:r>
              <a:rPr lang="en-US" b="true" sz="2369">
                <a:solidFill>
                  <a:srgbClr val="032A3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.</a:t>
            </a:r>
            <a:r>
              <a:rPr lang="en-US" sz="2369">
                <a:solidFill>
                  <a:srgbClr val="032A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directional tails assigned per hypothesis. Since each hypothesis had two complementary indicators measuring the same construct, a significant result on either was sufficient to reject H₀ </a:t>
            </a:r>
            <a:r>
              <a:rPr lang="en-US" b="true" sz="2369">
                <a:solidFill>
                  <a:srgbClr val="032A3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(α = 0.05)</a:t>
            </a:r>
            <a:r>
              <a:rPr lang="en-US" sz="2369">
                <a:solidFill>
                  <a:srgbClr val="032A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</a:p>
          <a:p>
            <a:pPr algn="just">
              <a:lnSpc>
                <a:spcPts val="3317"/>
              </a:lnSpc>
              <a:spcBef>
                <a:spcPct val="0"/>
              </a:spcBef>
            </a:pPr>
            <a:r>
              <a:rPr lang="en-US" sz="2369">
                <a:solidFill>
                  <a:srgbClr val="032A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</a:t>
            </a:r>
            <a:r>
              <a:rPr lang="en-US" b="true" sz="2369">
                <a:solidFill>
                  <a:srgbClr val="032A3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 = 222</a:t>
            </a:r>
            <a:r>
              <a:rPr lang="en-US" sz="2369">
                <a:solidFill>
                  <a:srgbClr val="032A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the tests were well-powered to detect even small effect sizes.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2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03804" y="2072697"/>
            <a:ext cx="6829234" cy="3596569"/>
            <a:chOff x="0" y="0"/>
            <a:chExt cx="1798646" cy="9472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98646" cy="947245"/>
            </a:xfrm>
            <a:custGeom>
              <a:avLst/>
              <a:gdLst/>
              <a:ahLst/>
              <a:cxnLst/>
              <a:rect r="r" b="b" t="t" l="l"/>
              <a:pathLst>
                <a:path h="947245" w="1798646">
                  <a:moveTo>
                    <a:pt x="20406" y="0"/>
                  </a:moveTo>
                  <a:lnTo>
                    <a:pt x="1778240" y="0"/>
                  </a:lnTo>
                  <a:cubicBezTo>
                    <a:pt x="1783652" y="0"/>
                    <a:pt x="1788842" y="2150"/>
                    <a:pt x="1792669" y="5977"/>
                  </a:cubicBezTo>
                  <a:cubicBezTo>
                    <a:pt x="1796496" y="9803"/>
                    <a:pt x="1798646" y="14994"/>
                    <a:pt x="1798646" y="20406"/>
                  </a:cubicBezTo>
                  <a:lnTo>
                    <a:pt x="1798646" y="926839"/>
                  </a:lnTo>
                  <a:cubicBezTo>
                    <a:pt x="1798646" y="938109"/>
                    <a:pt x="1789510" y="947245"/>
                    <a:pt x="1778240" y="947245"/>
                  </a:cubicBezTo>
                  <a:lnTo>
                    <a:pt x="20406" y="947245"/>
                  </a:lnTo>
                  <a:cubicBezTo>
                    <a:pt x="14994" y="947245"/>
                    <a:pt x="9803" y="945095"/>
                    <a:pt x="5977" y="941268"/>
                  </a:cubicBezTo>
                  <a:cubicBezTo>
                    <a:pt x="2150" y="937441"/>
                    <a:pt x="0" y="932251"/>
                    <a:pt x="0" y="926839"/>
                  </a:cubicBezTo>
                  <a:lnTo>
                    <a:pt x="0" y="20406"/>
                  </a:lnTo>
                  <a:cubicBezTo>
                    <a:pt x="0" y="14994"/>
                    <a:pt x="2150" y="9803"/>
                    <a:pt x="5977" y="5977"/>
                  </a:cubicBezTo>
                  <a:cubicBezTo>
                    <a:pt x="9803" y="2150"/>
                    <a:pt x="14994" y="0"/>
                    <a:pt x="20406" y="0"/>
                  </a:cubicBezTo>
                  <a:close/>
                </a:path>
              </a:pathLst>
            </a:custGeom>
            <a:solidFill>
              <a:srgbClr val="C8DEE2"/>
            </a:solidFill>
            <a:ln w="19050" cap="sq">
              <a:solidFill>
                <a:srgbClr val="D3E4E7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798646" cy="9853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578595" y="2465655"/>
            <a:ext cx="6679651" cy="2867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6"/>
              </a:lnSpc>
              <a:spcBef>
                <a:spcPct val="0"/>
              </a:spcBef>
            </a:pPr>
            <a:r>
              <a:rPr lang="en-US" b="true" sz="4346" spc="-17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Platf</a:t>
            </a:r>
            <a:r>
              <a:rPr lang="en-US" b="true" sz="4346" spc="-17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orm Fragmentation </a:t>
            </a:r>
          </a:p>
          <a:p>
            <a:pPr algn="ctr">
              <a:lnSpc>
                <a:spcPts val="2946"/>
              </a:lnSpc>
              <a:spcBef>
                <a:spcPct val="0"/>
              </a:spcBef>
            </a:pPr>
            <a:r>
              <a:rPr lang="en-US" sz="2946" spc="-11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Students juggle 3-7 disconnected tools. Many explicitly want consolidation.</a:t>
            </a:r>
          </a:p>
          <a:p>
            <a:pPr algn="ctr">
              <a:lnSpc>
                <a:spcPts val="2746"/>
              </a:lnSpc>
              <a:spcBef>
                <a:spcPct val="0"/>
              </a:spcBef>
            </a:pPr>
          </a:p>
          <a:p>
            <a:pPr algn="ctr">
              <a:lnSpc>
                <a:spcPts val="3215"/>
              </a:lnSpc>
              <a:spcBef>
                <a:spcPct val="0"/>
              </a:spcBef>
            </a:pPr>
            <a:r>
              <a:rPr lang="en-US" sz="3215" i="true" spc="-128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"I think it would be better to use one core LMS and integrate other platforms with it."</a:t>
            </a:r>
          </a:p>
          <a:p>
            <a:pPr algn="ctr">
              <a:lnSpc>
                <a:spcPts val="3215"/>
              </a:lnSpc>
              <a:spcBef>
                <a:spcPct val="0"/>
              </a:spcBef>
            </a:pPr>
            <a:r>
              <a:rPr lang="en-US" sz="3215" i="true" spc="-128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 - A5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808714" y="2085842"/>
            <a:ext cx="6654294" cy="3583425"/>
            <a:chOff x="0" y="0"/>
            <a:chExt cx="1752571" cy="94378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52571" cy="943783"/>
            </a:xfrm>
            <a:custGeom>
              <a:avLst/>
              <a:gdLst/>
              <a:ahLst/>
              <a:cxnLst/>
              <a:rect r="r" b="b" t="t" l="l"/>
              <a:pathLst>
                <a:path h="943783" w="1752571">
                  <a:moveTo>
                    <a:pt x="20942" y="0"/>
                  </a:moveTo>
                  <a:lnTo>
                    <a:pt x="1731629" y="0"/>
                  </a:lnTo>
                  <a:cubicBezTo>
                    <a:pt x="1737183" y="0"/>
                    <a:pt x="1742510" y="2206"/>
                    <a:pt x="1746437" y="6134"/>
                  </a:cubicBezTo>
                  <a:cubicBezTo>
                    <a:pt x="1750365" y="10061"/>
                    <a:pt x="1752571" y="15388"/>
                    <a:pt x="1752571" y="20942"/>
                  </a:cubicBezTo>
                  <a:lnTo>
                    <a:pt x="1752571" y="922841"/>
                  </a:lnTo>
                  <a:cubicBezTo>
                    <a:pt x="1752571" y="934407"/>
                    <a:pt x="1743195" y="943783"/>
                    <a:pt x="1731629" y="943783"/>
                  </a:cubicBezTo>
                  <a:lnTo>
                    <a:pt x="20942" y="943783"/>
                  </a:lnTo>
                  <a:cubicBezTo>
                    <a:pt x="15388" y="943783"/>
                    <a:pt x="10061" y="941576"/>
                    <a:pt x="6134" y="937649"/>
                  </a:cubicBezTo>
                  <a:cubicBezTo>
                    <a:pt x="2206" y="933721"/>
                    <a:pt x="0" y="928395"/>
                    <a:pt x="0" y="922841"/>
                  </a:cubicBezTo>
                  <a:lnTo>
                    <a:pt x="0" y="20942"/>
                  </a:lnTo>
                  <a:cubicBezTo>
                    <a:pt x="0" y="15388"/>
                    <a:pt x="2206" y="10061"/>
                    <a:pt x="6134" y="6134"/>
                  </a:cubicBezTo>
                  <a:cubicBezTo>
                    <a:pt x="10061" y="2206"/>
                    <a:pt x="15388" y="0"/>
                    <a:pt x="20942" y="0"/>
                  </a:cubicBezTo>
                  <a:close/>
                </a:path>
              </a:pathLst>
            </a:custGeom>
            <a:solidFill>
              <a:srgbClr val="C8DEE2"/>
            </a:solidFill>
            <a:ln w="19050" cap="sq">
              <a:solidFill>
                <a:srgbClr val="D3E4E7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752571" cy="9818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9957057" y="2470534"/>
            <a:ext cx="6308329" cy="2867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80"/>
              </a:lnSpc>
              <a:spcBef>
                <a:spcPct val="0"/>
              </a:spcBef>
            </a:pPr>
            <a:r>
              <a:rPr lang="en-US" b="true" sz="4380" spc="-175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UI &amp;</a:t>
            </a:r>
            <a:r>
              <a:rPr lang="en-US" b="true" sz="4380" spc="-175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Findability </a:t>
            </a:r>
          </a:p>
          <a:p>
            <a:pPr algn="ctr">
              <a:lnSpc>
                <a:spcPts val="2880"/>
              </a:lnSpc>
              <a:spcBef>
                <a:spcPct val="0"/>
              </a:spcBef>
            </a:pPr>
            <a:r>
              <a:rPr lang="en-US" sz="2880" spc="-1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Materials are disorganized; no search; endless scrolling.</a:t>
            </a:r>
          </a:p>
          <a:p>
            <a:pPr algn="ctr">
              <a:lnSpc>
                <a:spcPts val="2880"/>
              </a:lnSpc>
              <a:spcBef>
                <a:spcPct val="0"/>
              </a:spcBef>
            </a:pPr>
          </a:p>
          <a:p>
            <a:pPr algn="ctr">
              <a:lnSpc>
                <a:spcPts val="3162"/>
              </a:lnSpc>
              <a:spcBef>
                <a:spcPct val="0"/>
              </a:spcBef>
            </a:pPr>
            <a:r>
              <a:rPr lang="en-US" sz="3162" i="true" spc="-126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"The main issue is needing to scroll through long lists of content." </a:t>
            </a:r>
          </a:p>
          <a:p>
            <a:pPr algn="ctr">
              <a:lnSpc>
                <a:spcPts val="3162"/>
              </a:lnSpc>
              <a:spcBef>
                <a:spcPct val="0"/>
              </a:spcBef>
            </a:pPr>
            <a:r>
              <a:rPr lang="en-US" sz="3162" i="true" spc="-126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- J2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498947" y="6152984"/>
            <a:ext cx="6834091" cy="3611082"/>
            <a:chOff x="0" y="0"/>
            <a:chExt cx="1799925" cy="95106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99925" cy="951067"/>
            </a:xfrm>
            <a:custGeom>
              <a:avLst/>
              <a:gdLst/>
              <a:ahLst/>
              <a:cxnLst/>
              <a:rect r="r" b="b" t="t" l="l"/>
              <a:pathLst>
                <a:path h="951067" w="1799925">
                  <a:moveTo>
                    <a:pt x="20391" y="0"/>
                  </a:moveTo>
                  <a:lnTo>
                    <a:pt x="1779534" y="0"/>
                  </a:lnTo>
                  <a:cubicBezTo>
                    <a:pt x="1790796" y="0"/>
                    <a:pt x="1799925" y="9129"/>
                    <a:pt x="1799925" y="20391"/>
                  </a:cubicBezTo>
                  <a:lnTo>
                    <a:pt x="1799925" y="930676"/>
                  </a:lnTo>
                  <a:cubicBezTo>
                    <a:pt x="1799925" y="941937"/>
                    <a:pt x="1790796" y="951067"/>
                    <a:pt x="1779534" y="951067"/>
                  </a:cubicBezTo>
                  <a:lnTo>
                    <a:pt x="20391" y="951067"/>
                  </a:lnTo>
                  <a:cubicBezTo>
                    <a:pt x="9129" y="951067"/>
                    <a:pt x="0" y="941937"/>
                    <a:pt x="0" y="930676"/>
                  </a:cubicBezTo>
                  <a:lnTo>
                    <a:pt x="0" y="20391"/>
                  </a:lnTo>
                  <a:cubicBezTo>
                    <a:pt x="0" y="9129"/>
                    <a:pt x="9129" y="0"/>
                    <a:pt x="20391" y="0"/>
                  </a:cubicBezTo>
                  <a:close/>
                </a:path>
              </a:pathLst>
            </a:custGeom>
            <a:solidFill>
              <a:srgbClr val="C8DEE2"/>
            </a:solidFill>
            <a:ln w="19050" cap="sq">
              <a:gradFill>
                <a:gsLst>
                  <a:gs pos="0">
                    <a:srgbClr val="D3E4E7">
                      <a:alpha val="100000"/>
                    </a:srgbClr>
                  </a:gs>
                  <a:gs pos="100000">
                    <a:srgbClr val="72B1B5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799925" cy="9891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749738" y="6521139"/>
            <a:ext cx="6337365" cy="3238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9"/>
              </a:lnSpc>
              <a:spcBef>
                <a:spcPct val="0"/>
              </a:spcBef>
            </a:pPr>
            <a:r>
              <a:rPr lang="en-US" b="true" sz="4329" spc="-17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Train</a:t>
            </a:r>
            <a:r>
              <a:rPr lang="en-US" b="true" sz="4329" spc="-17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ing Deficiencies </a:t>
            </a:r>
          </a:p>
          <a:p>
            <a:pPr algn="ctr">
              <a:lnSpc>
                <a:spcPts val="2829"/>
              </a:lnSpc>
              <a:spcBef>
                <a:spcPct val="0"/>
              </a:spcBef>
            </a:pPr>
            <a:r>
              <a:rPr lang="en-US" sz="2829" spc="-11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Proficiency comes from self-teaching, not institutions.</a:t>
            </a:r>
          </a:p>
          <a:p>
            <a:pPr algn="ctr">
              <a:lnSpc>
                <a:spcPts val="2829"/>
              </a:lnSpc>
              <a:spcBef>
                <a:spcPct val="0"/>
              </a:spcBef>
            </a:pPr>
          </a:p>
          <a:p>
            <a:pPr algn="ctr">
              <a:lnSpc>
                <a:spcPts val="3206"/>
              </a:lnSpc>
              <a:spcBef>
                <a:spcPct val="0"/>
              </a:spcBef>
            </a:pPr>
            <a:r>
              <a:rPr lang="en-US" sz="3206" i="true" spc="-128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"I did not receive formal training. I watched YouTube videos and learned on my own." </a:t>
            </a:r>
          </a:p>
          <a:p>
            <a:pPr algn="ctr">
              <a:lnSpc>
                <a:spcPts val="3206"/>
              </a:lnSpc>
              <a:spcBef>
                <a:spcPct val="0"/>
              </a:spcBef>
            </a:pPr>
            <a:r>
              <a:rPr lang="en-US" sz="3206" i="true" spc="-128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- J2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808714" y="6080933"/>
            <a:ext cx="6654294" cy="3683134"/>
            <a:chOff x="0" y="0"/>
            <a:chExt cx="1752571" cy="97004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52571" cy="970044"/>
            </a:xfrm>
            <a:custGeom>
              <a:avLst/>
              <a:gdLst/>
              <a:ahLst/>
              <a:cxnLst/>
              <a:rect r="r" b="b" t="t" l="l"/>
              <a:pathLst>
                <a:path h="970044" w="1752571">
                  <a:moveTo>
                    <a:pt x="20942" y="0"/>
                  </a:moveTo>
                  <a:lnTo>
                    <a:pt x="1731629" y="0"/>
                  </a:lnTo>
                  <a:cubicBezTo>
                    <a:pt x="1737183" y="0"/>
                    <a:pt x="1742510" y="2206"/>
                    <a:pt x="1746437" y="6134"/>
                  </a:cubicBezTo>
                  <a:cubicBezTo>
                    <a:pt x="1750365" y="10061"/>
                    <a:pt x="1752571" y="15388"/>
                    <a:pt x="1752571" y="20942"/>
                  </a:cubicBezTo>
                  <a:lnTo>
                    <a:pt x="1752571" y="949101"/>
                  </a:lnTo>
                  <a:cubicBezTo>
                    <a:pt x="1752571" y="960667"/>
                    <a:pt x="1743195" y="970044"/>
                    <a:pt x="1731629" y="970044"/>
                  </a:cubicBezTo>
                  <a:lnTo>
                    <a:pt x="20942" y="970044"/>
                  </a:lnTo>
                  <a:cubicBezTo>
                    <a:pt x="15388" y="970044"/>
                    <a:pt x="10061" y="967837"/>
                    <a:pt x="6134" y="963910"/>
                  </a:cubicBezTo>
                  <a:cubicBezTo>
                    <a:pt x="2206" y="959982"/>
                    <a:pt x="0" y="954656"/>
                    <a:pt x="0" y="949101"/>
                  </a:cubicBezTo>
                  <a:lnTo>
                    <a:pt x="0" y="20942"/>
                  </a:lnTo>
                  <a:cubicBezTo>
                    <a:pt x="0" y="15388"/>
                    <a:pt x="2206" y="10061"/>
                    <a:pt x="6134" y="6134"/>
                  </a:cubicBezTo>
                  <a:cubicBezTo>
                    <a:pt x="10061" y="2206"/>
                    <a:pt x="15388" y="0"/>
                    <a:pt x="20942" y="0"/>
                  </a:cubicBezTo>
                  <a:close/>
                </a:path>
              </a:pathLst>
            </a:custGeom>
            <a:solidFill>
              <a:srgbClr val="C8DEE2"/>
            </a:solidFill>
            <a:ln w="19050" cap="sq">
              <a:solidFill>
                <a:srgbClr val="D3E4E7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752571" cy="10081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006336" y="6194696"/>
            <a:ext cx="6259051" cy="3594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83"/>
              </a:lnSpc>
              <a:spcBef>
                <a:spcPct val="0"/>
              </a:spcBef>
            </a:pPr>
            <a:r>
              <a:rPr lang="en-US" sz="4383" spc="-1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true" sz="4383" spc="-175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Notification &amp; Communication </a:t>
            </a:r>
          </a:p>
          <a:p>
            <a:pPr algn="ctr">
              <a:lnSpc>
                <a:spcPts val="3083"/>
              </a:lnSpc>
              <a:spcBef>
                <a:spcPct val="0"/>
              </a:spcBef>
            </a:pPr>
            <a:r>
              <a:rPr lang="en-US" sz="3083" spc="-12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Either too slow or overwhelming - pushing students to external apps.</a:t>
            </a:r>
          </a:p>
          <a:p>
            <a:pPr algn="ctr">
              <a:lnSpc>
                <a:spcPts val="3083"/>
              </a:lnSpc>
              <a:spcBef>
                <a:spcPct val="0"/>
              </a:spcBef>
            </a:pPr>
          </a:p>
          <a:p>
            <a:pPr algn="ctr">
              <a:lnSpc>
                <a:spcPts val="3385"/>
              </a:lnSpc>
              <a:spcBef>
                <a:spcPct val="0"/>
              </a:spcBef>
            </a:pPr>
            <a:r>
              <a:rPr lang="en-US" sz="3385" i="true" spc="-135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"I muted the notifications and many messages get lost."</a:t>
            </a:r>
          </a:p>
          <a:p>
            <a:pPr algn="ctr">
              <a:lnSpc>
                <a:spcPts val="3385"/>
              </a:lnSpc>
              <a:spcBef>
                <a:spcPct val="0"/>
              </a:spcBef>
            </a:pPr>
            <a:r>
              <a:rPr lang="en-US" sz="3385" i="true" spc="-135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 - T6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14716" y="711672"/>
            <a:ext cx="15858568" cy="1002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b="true" sz="7200" spc="-288">
                <a:gradFill>
                  <a:gsLst>
                    <a:gs pos="0">
                      <a:srgbClr val="032A33">
                        <a:alpha val="100000"/>
                      </a:srgbClr>
                    </a:gs>
                    <a:gs pos="100000">
                      <a:srgbClr val="106470">
                        <a:alpha val="100000"/>
                      </a:srgbClr>
                    </a:gs>
                  </a:gsLst>
                  <a:lin ang="5400000"/>
                </a:gradFill>
                <a:latin typeface="Times New Roman Bold"/>
                <a:ea typeface="Times New Roman Bold"/>
                <a:cs typeface="Times New Roman Bold"/>
                <a:sym typeface="Times New Roman Bold"/>
              </a:rPr>
              <a:t> Seven Interconnected Usability Themes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2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3707" y="2085842"/>
            <a:ext cx="5680907" cy="7185090"/>
            <a:chOff x="0" y="0"/>
            <a:chExt cx="1496206" cy="189236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96206" cy="1892370"/>
            </a:xfrm>
            <a:custGeom>
              <a:avLst/>
              <a:gdLst/>
              <a:ahLst/>
              <a:cxnLst/>
              <a:rect r="r" b="b" t="t" l="l"/>
              <a:pathLst>
                <a:path h="1892370" w="1496206">
                  <a:moveTo>
                    <a:pt x="24530" y="0"/>
                  </a:moveTo>
                  <a:lnTo>
                    <a:pt x="1471676" y="0"/>
                  </a:lnTo>
                  <a:cubicBezTo>
                    <a:pt x="1485223" y="0"/>
                    <a:pt x="1496206" y="10983"/>
                    <a:pt x="1496206" y="24530"/>
                  </a:cubicBezTo>
                  <a:lnTo>
                    <a:pt x="1496206" y="1867839"/>
                  </a:lnTo>
                  <a:cubicBezTo>
                    <a:pt x="1496206" y="1874345"/>
                    <a:pt x="1493622" y="1880584"/>
                    <a:pt x="1489021" y="1885185"/>
                  </a:cubicBezTo>
                  <a:cubicBezTo>
                    <a:pt x="1484421" y="1889785"/>
                    <a:pt x="1478181" y="1892370"/>
                    <a:pt x="1471676" y="1892370"/>
                  </a:cubicBezTo>
                  <a:lnTo>
                    <a:pt x="24530" y="1892370"/>
                  </a:lnTo>
                  <a:cubicBezTo>
                    <a:pt x="10983" y="1892370"/>
                    <a:pt x="0" y="1881387"/>
                    <a:pt x="0" y="1867839"/>
                  </a:cubicBezTo>
                  <a:lnTo>
                    <a:pt x="0" y="24530"/>
                  </a:lnTo>
                  <a:cubicBezTo>
                    <a:pt x="0" y="10983"/>
                    <a:pt x="10983" y="0"/>
                    <a:pt x="24530" y="0"/>
                  </a:cubicBezTo>
                  <a:close/>
                </a:path>
              </a:pathLst>
            </a:custGeom>
            <a:solidFill>
              <a:srgbClr val="C8DEE2"/>
            </a:solidFill>
            <a:ln w="19050" cap="sq">
              <a:solidFill>
                <a:srgbClr val="D3E4E7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96206" cy="19304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36968" y="2547326"/>
            <a:ext cx="4574385" cy="5524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15"/>
              </a:lnSpc>
              <a:spcBef>
                <a:spcPct val="0"/>
              </a:spcBef>
            </a:pPr>
            <a:r>
              <a:rPr lang="en-US" b="true" sz="3615" spc="-144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Notification &amp;  Communication Effectiveness </a:t>
            </a:r>
          </a:p>
          <a:p>
            <a:pPr algn="ctr">
              <a:lnSpc>
                <a:spcPts val="2615"/>
              </a:lnSpc>
              <a:spcBef>
                <a:spcPct val="0"/>
              </a:spcBef>
            </a:pPr>
          </a:p>
          <a:p>
            <a:pPr algn="ctr">
              <a:lnSpc>
                <a:spcPts val="2615"/>
              </a:lnSpc>
              <a:spcBef>
                <a:spcPct val="0"/>
              </a:spcBef>
            </a:pPr>
            <a:r>
              <a:rPr lang="en-US" sz="2615" spc="-10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Notification overload leads to mute channels and miss key updates</a:t>
            </a:r>
          </a:p>
          <a:p>
            <a:pPr algn="ctr">
              <a:lnSpc>
                <a:spcPts val="3215"/>
              </a:lnSpc>
              <a:spcBef>
                <a:spcPct val="0"/>
              </a:spcBef>
            </a:pPr>
            <a:r>
              <a:rPr lang="en-US" b="true" sz="3215" spc="-12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</a:p>
          <a:p>
            <a:pPr algn="ctr">
              <a:lnSpc>
                <a:spcPts val="3115"/>
              </a:lnSpc>
              <a:spcBef>
                <a:spcPct val="0"/>
              </a:spcBef>
            </a:pPr>
            <a:r>
              <a:rPr lang="en-US" sz="3115" i="true" spc="-124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"For Discord, I feel liket here are too many notifications. I muted the notifications and many messages get lost as all the students message and use Discord forqueries."</a:t>
            </a:r>
            <a:r>
              <a:rPr lang="en-US" b="true" sz="3115" spc="-124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</a:p>
          <a:p>
            <a:pPr algn="ctr">
              <a:lnSpc>
                <a:spcPts val="3115"/>
              </a:lnSpc>
              <a:spcBef>
                <a:spcPct val="0"/>
              </a:spcBef>
            </a:pPr>
            <a:r>
              <a:rPr lang="en-US" b="true" sz="3115" spc="-124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-</a:t>
            </a:r>
            <a:r>
              <a:rPr lang="en-US" sz="3115" i="true" spc="-124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T6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14716" y="711672"/>
            <a:ext cx="15858568" cy="1002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b="true" sz="7200" spc="-288">
                <a:gradFill>
                  <a:gsLst>
                    <a:gs pos="0">
                      <a:srgbClr val="032A33">
                        <a:alpha val="100000"/>
                      </a:srgbClr>
                    </a:gs>
                    <a:gs pos="100000">
                      <a:srgbClr val="106470">
                        <a:alpha val="100000"/>
                      </a:srgbClr>
                    </a:gs>
                  </a:gsLst>
                  <a:lin ang="5400000"/>
                </a:gradFill>
                <a:latin typeface="Times New Roman Bold"/>
                <a:ea typeface="Times New Roman Bold"/>
                <a:cs typeface="Times New Roman Bold"/>
                <a:sym typeface="Times New Roman Bold"/>
              </a:rPr>
              <a:t> Seven Interconnected Usability Themes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303547" y="2085842"/>
            <a:ext cx="5680907" cy="7185090"/>
            <a:chOff x="0" y="0"/>
            <a:chExt cx="1496206" cy="189236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96206" cy="1892370"/>
            </a:xfrm>
            <a:custGeom>
              <a:avLst/>
              <a:gdLst/>
              <a:ahLst/>
              <a:cxnLst/>
              <a:rect r="r" b="b" t="t" l="l"/>
              <a:pathLst>
                <a:path h="1892370" w="1496206">
                  <a:moveTo>
                    <a:pt x="24530" y="0"/>
                  </a:moveTo>
                  <a:lnTo>
                    <a:pt x="1471676" y="0"/>
                  </a:lnTo>
                  <a:cubicBezTo>
                    <a:pt x="1485223" y="0"/>
                    <a:pt x="1496206" y="10983"/>
                    <a:pt x="1496206" y="24530"/>
                  </a:cubicBezTo>
                  <a:lnTo>
                    <a:pt x="1496206" y="1867839"/>
                  </a:lnTo>
                  <a:cubicBezTo>
                    <a:pt x="1496206" y="1874345"/>
                    <a:pt x="1493622" y="1880584"/>
                    <a:pt x="1489021" y="1885185"/>
                  </a:cubicBezTo>
                  <a:cubicBezTo>
                    <a:pt x="1484421" y="1889785"/>
                    <a:pt x="1478181" y="1892370"/>
                    <a:pt x="1471676" y="1892370"/>
                  </a:cubicBezTo>
                  <a:lnTo>
                    <a:pt x="24530" y="1892370"/>
                  </a:lnTo>
                  <a:cubicBezTo>
                    <a:pt x="10983" y="1892370"/>
                    <a:pt x="0" y="1881387"/>
                    <a:pt x="0" y="1867839"/>
                  </a:cubicBezTo>
                  <a:lnTo>
                    <a:pt x="0" y="24530"/>
                  </a:lnTo>
                  <a:cubicBezTo>
                    <a:pt x="0" y="10983"/>
                    <a:pt x="10983" y="0"/>
                    <a:pt x="24530" y="0"/>
                  </a:cubicBezTo>
                  <a:close/>
                </a:path>
              </a:pathLst>
            </a:custGeom>
            <a:solidFill>
              <a:srgbClr val="C8DEE2"/>
            </a:solidFill>
            <a:ln w="19050" cap="sq">
              <a:solidFill>
                <a:srgbClr val="D3E4E7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496206" cy="19304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327353" y="2085842"/>
            <a:ext cx="5680907" cy="7185090"/>
            <a:chOff x="0" y="0"/>
            <a:chExt cx="1496206" cy="189236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96206" cy="1892370"/>
            </a:xfrm>
            <a:custGeom>
              <a:avLst/>
              <a:gdLst/>
              <a:ahLst/>
              <a:cxnLst/>
              <a:rect r="r" b="b" t="t" l="l"/>
              <a:pathLst>
                <a:path h="1892370" w="1496206">
                  <a:moveTo>
                    <a:pt x="24530" y="0"/>
                  </a:moveTo>
                  <a:lnTo>
                    <a:pt x="1471676" y="0"/>
                  </a:lnTo>
                  <a:cubicBezTo>
                    <a:pt x="1485223" y="0"/>
                    <a:pt x="1496206" y="10983"/>
                    <a:pt x="1496206" y="24530"/>
                  </a:cubicBezTo>
                  <a:lnTo>
                    <a:pt x="1496206" y="1867839"/>
                  </a:lnTo>
                  <a:cubicBezTo>
                    <a:pt x="1496206" y="1874345"/>
                    <a:pt x="1493622" y="1880584"/>
                    <a:pt x="1489021" y="1885185"/>
                  </a:cubicBezTo>
                  <a:cubicBezTo>
                    <a:pt x="1484421" y="1889785"/>
                    <a:pt x="1478181" y="1892370"/>
                    <a:pt x="1471676" y="1892370"/>
                  </a:cubicBezTo>
                  <a:lnTo>
                    <a:pt x="24530" y="1892370"/>
                  </a:lnTo>
                  <a:cubicBezTo>
                    <a:pt x="10983" y="1892370"/>
                    <a:pt x="0" y="1881387"/>
                    <a:pt x="0" y="1867839"/>
                  </a:cubicBezTo>
                  <a:lnTo>
                    <a:pt x="0" y="24530"/>
                  </a:lnTo>
                  <a:cubicBezTo>
                    <a:pt x="0" y="10983"/>
                    <a:pt x="10983" y="0"/>
                    <a:pt x="24530" y="0"/>
                  </a:cubicBezTo>
                  <a:close/>
                </a:path>
              </a:pathLst>
            </a:custGeom>
            <a:solidFill>
              <a:srgbClr val="C8DEE2"/>
            </a:solidFill>
            <a:ln w="19050" cap="sq">
              <a:solidFill>
                <a:srgbClr val="D3E4E7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496206" cy="19304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6856807" y="2547326"/>
            <a:ext cx="4574385" cy="5122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5"/>
              </a:lnSpc>
              <a:spcBef>
                <a:spcPct val="0"/>
              </a:spcBef>
            </a:pPr>
            <a:r>
              <a:rPr lang="en-US" b="true" sz="3515" spc="-14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Ins</a:t>
            </a:r>
            <a:r>
              <a:rPr lang="en-US" b="true" sz="3515" spc="-14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tructor Proficiency &amp; Its Impact</a:t>
            </a:r>
          </a:p>
          <a:p>
            <a:pPr algn="ctr">
              <a:lnSpc>
                <a:spcPts val="3015"/>
              </a:lnSpc>
              <a:spcBef>
                <a:spcPct val="0"/>
              </a:spcBef>
            </a:pPr>
          </a:p>
          <a:p>
            <a:pPr algn="ctr">
              <a:lnSpc>
                <a:spcPts val="2715"/>
              </a:lnSpc>
              <a:spcBef>
                <a:spcPct val="0"/>
              </a:spcBef>
            </a:pPr>
            <a:r>
              <a:rPr lang="en-US" sz="2715" spc="-10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Limited faculty proficiency causes disorganized materials.</a:t>
            </a:r>
          </a:p>
          <a:p>
            <a:pPr algn="ctr">
              <a:lnSpc>
                <a:spcPts val="3215"/>
              </a:lnSpc>
              <a:spcBef>
                <a:spcPct val="0"/>
              </a:spcBef>
            </a:pPr>
            <a:r>
              <a:rPr lang="en-US" b="true" sz="3215" spc="-12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</a:p>
          <a:p>
            <a:pPr algn="ctr">
              <a:lnSpc>
                <a:spcPts val="3115"/>
              </a:lnSpc>
              <a:spcBef>
                <a:spcPct val="0"/>
              </a:spcBef>
            </a:pPr>
            <a:r>
              <a:rPr lang="en-US" sz="3115" i="true" spc="-124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"I have seen new faculty members who cannot use Discord or Slack properly... In another course, the instructor used WhatsApp instead of email or LMS tools."</a:t>
            </a:r>
            <a:r>
              <a:rPr lang="en-US" sz="3115" i="true" spc="-124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 </a:t>
            </a:r>
          </a:p>
          <a:p>
            <a:pPr algn="ctr">
              <a:lnSpc>
                <a:spcPts val="3115"/>
              </a:lnSpc>
              <a:spcBef>
                <a:spcPct val="0"/>
              </a:spcBef>
            </a:pPr>
            <a:r>
              <a:rPr lang="en-US" sz="3115" i="true" spc="-124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-</a:t>
            </a:r>
            <a:r>
              <a:rPr lang="en-US" sz="3115" i="true" spc="-124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A3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880614" y="2497161"/>
            <a:ext cx="4574385" cy="4647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15"/>
              </a:lnSpc>
              <a:spcBef>
                <a:spcPct val="0"/>
              </a:spcBef>
            </a:pPr>
            <a:r>
              <a:rPr lang="en-US" b="true" sz="3615" spc="-144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</a:t>
            </a:r>
            <a:r>
              <a:rPr lang="en-US" b="true" sz="3615" spc="-144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ole Perception &amp; Motivation</a:t>
            </a:r>
          </a:p>
          <a:p>
            <a:pPr algn="ctr">
              <a:lnSpc>
                <a:spcPts val="3015"/>
              </a:lnSpc>
              <a:spcBef>
                <a:spcPct val="0"/>
              </a:spcBef>
            </a:pPr>
          </a:p>
          <a:p>
            <a:pPr algn="ctr">
              <a:lnSpc>
                <a:spcPts val="2715"/>
              </a:lnSpc>
              <a:spcBef>
                <a:spcPct val="0"/>
              </a:spcBef>
            </a:pPr>
            <a:r>
              <a:rPr lang="en-US" sz="2715" spc="-10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Lack of interactivity making it  mostly viewed as a  content repository rather than an active earning space. </a:t>
            </a:r>
          </a:p>
          <a:p>
            <a:pPr algn="ctr">
              <a:lnSpc>
                <a:spcPts val="3015"/>
              </a:lnSpc>
              <a:spcBef>
                <a:spcPct val="0"/>
              </a:spcBef>
            </a:pPr>
          </a:p>
          <a:p>
            <a:pPr algn="ctr">
              <a:lnSpc>
                <a:spcPts val="3015"/>
              </a:lnSpc>
              <a:spcBef>
                <a:spcPct val="0"/>
              </a:spcBef>
            </a:pPr>
          </a:p>
          <a:p>
            <a:pPr algn="ctr">
              <a:lnSpc>
                <a:spcPts val="3115"/>
              </a:lnSpc>
              <a:spcBef>
                <a:spcPct val="0"/>
              </a:spcBef>
            </a:pPr>
            <a:r>
              <a:rPr lang="en-US" sz="3115" i="true" spc="-124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"Mainly as a content repository."</a:t>
            </a:r>
            <a:r>
              <a:rPr lang="en-US" sz="3115" i="true" spc="-124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 </a:t>
            </a:r>
          </a:p>
          <a:p>
            <a:pPr algn="ctr">
              <a:lnSpc>
                <a:spcPts val="3115"/>
              </a:lnSpc>
              <a:spcBef>
                <a:spcPct val="0"/>
              </a:spcBef>
            </a:pPr>
            <a:r>
              <a:rPr lang="en-US" sz="3115" i="true" spc="-124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-</a:t>
            </a:r>
            <a:r>
              <a:rPr lang="en-US" sz="3115" i="true" spc="-124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A2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928978" y="1943499"/>
            <a:ext cx="10917421" cy="7261256"/>
          </a:xfrm>
          <a:custGeom>
            <a:avLst/>
            <a:gdLst/>
            <a:ahLst/>
            <a:cxnLst/>
            <a:rect r="r" b="b" t="t" l="l"/>
            <a:pathLst>
              <a:path h="7261256" w="10917421">
                <a:moveTo>
                  <a:pt x="0" y="0"/>
                </a:moveTo>
                <a:lnTo>
                  <a:pt x="10917420" y="0"/>
                </a:lnTo>
                <a:lnTo>
                  <a:pt x="10917420" y="7261256"/>
                </a:lnTo>
                <a:lnTo>
                  <a:pt x="0" y="72612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02" t="-6394" r="-589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14480" y="728716"/>
            <a:ext cx="13740325" cy="1002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b="true" sz="7200" spc="-288">
                <a:gradFill>
                  <a:gsLst>
                    <a:gs pos="0">
                      <a:srgbClr val="032A33">
                        <a:alpha val="100000"/>
                      </a:srgbClr>
                    </a:gs>
                    <a:gs pos="100000">
                      <a:srgbClr val="106470">
                        <a:alpha val="100000"/>
                      </a:srgbClr>
                    </a:gs>
                  </a:gsLst>
                  <a:lin ang="5400000"/>
                </a:gradFill>
                <a:latin typeface="Times New Roman Bold"/>
                <a:ea typeface="Times New Roman Bold"/>
                <a:cs typeface="Times New Roman Bold"/>
                <a:sym typeface="Times New Roman Bold"/>
              </a:rPr>
              <a:t>Qualitative Findings (n=34)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074229" y="9191625"/>
            <a:ext cx="4626918" cy="408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32A3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Fig</a:t>
            </a:r>
            <a:r>
              <a:rPr lang="en-US" b="true" sz="2299">
                <a:solidFill>
                  <a:srgbClr val="032A3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ure : Qualitative Analysis Results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66363" y="1876824"/>
            <a:ext cx="6223380" cy="8410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3932" indent="-276966" lvl="1">
              <a:lnSpc>
                <a:spcPts val="3591"/>
              </a:lnSpc>
              <a:buFont typeface="Arial"/>
              <a:buChar char="•"/>
            </a:pPr>
            <a:r>
              <a:rPr lang="en-US" b="true" sz="2565">
                <a:solidFill>
                  <a:srgbClr val="032A3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Krippendorff's α = 0.92 </a:t>
            </a:r>
            <a:r>
              <a:rPr lang="en-US" sz="2565">
                <a:solidFill>
                  <a:srgbClr val="032A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confirms very high inter-rater agreement</a:t>
            </a:r>
            <a:r>
              <a:rPr lang="en-US" b="true" sz="2565">
                <a:solidFill>
                  <a:srgbClr val="032A3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.</a:t>
            </a:r>
          </a:p>
          <a:p>
            <a:pPr algn="l">
              <a:lnSpc>
                <a:spcPts val="2751"/>
              </a:lnSpc>
            </a:pPr>
          </a:p>
          <a:p>
            <a:pPr algn="l" marL="489164" indent="-244582" lvl="1">
              <a:lnSpc>
                <a:spcPts val="3171"/>
              </a:lnSpc>
              <a:buFont typeface="Arial"/>
              <a:buChar char="•"/>
            </a:pPr>
            <a:r>
              <a:rPr lang="en-US" sz="2265">
                <a:solidFill>
                  <a:srgbClr val="032A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7 themes emerged bottom-up from clustered verified codes, grounded entirely in participant responses, not pre-existing frameworks, making findings authentic to real LMS experiences.</a:t>
            </a:r>
          </a:p>
          <a:p>
            <a:pPr algn="l">
              <a:lnSpc>
                <a:spcPts val="2751"/>
              </a:lnSpc>
            </a:pPr>
          </a:p>
          <a:p>
            <a:pPr algn="l" marL="467575" indent="-233787" lvl="1">
              <a:lnSpc>
                <a:spcPts val="3031"/>
              </a:lnSpc>
              <a:buFont typeface="Arial"/>
              <a:buChar char="•"/>
            </a:pPr>
            <a:r>
              <a:rPr lang="en-US" sz="2165">
                <a:solidFill>
                  <a:srgbClr val="032A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UI &amp; Usability </a:t>
            </a:r>
            <a:r>
              <a:rPr lang="en-US" b="true" sz="2165">
                <a:solidFill>
                  <a:srgbClr val="032A3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(98.2%)</a:t>
            </a:r>
            <a:r>
              <a:rPr lang="en-US" sz="2165">
                <a:solidFill>
                  <a:srgbClr val="032A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Notification &amp; Communication </a:t>
            </a:r>
            <a:r>
              <a:rPr lang="en-US" b="true" sz="2165">
                <a:solidFill>
                  <a:srgbClr val="032A3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(97.4%)</a:t>
            </a:r>
            <a:r>
              <a:rPr lang="en-US" sz="2165">
                <a:solidFill>
                  <a:srgbClr val="032A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Role Perception were flagged by virtually every participant, regardless of institution, platform, or user role. These are consensus problems, not outliers.</a:t>
            </a:r>
          </a:p>
          <a:p>
            <a:pPr algn="l">
              <a:lnSpc>
                <a:spcPts val="2751"/>
              </a:lnSpc>
            </a:pPr>
          </a:p>
          <a:p>
            <a:pPr algn="l" marL="467575" indent="-233787" lvl="1">
              <a:lnSpc>
                <a:spcPts val="3031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65">
                <a:solidFill>
                  <a:srgbClr val="032A3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88.2% </a:t>
            </a:r>
            <a:r>
              <a:rPr lang="en-US" sz="2165">
                <a:solidFill>
                  <a:srgbClr val="032A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raised training gaps relying on various sources to learn. S</a:t>
            </a:r>
            <a:r>
              <a:rPr lang="en-US" sz="2165">
                <a:solidFill>
                  <a:srgbClr val="032A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tructured institutional onboarding is largely absent across the sampled universities.</a:t>
            </a:r>
          </a:p>
          <a:p>
            <a:pPr algn="l">
              <a:lnSpc>
                <a:spcPts val="2751"/>
              </a:lnSpc>
              <a:spcBef>
                <a:spcPct val="0"/>
              </a:spcBef>
            </a:pPr>
          </a:p>
          <a:p>
            <a:pPr algn="l" marL="467575" indent="-233787" lvl="1">
              <a:lnSpc>
                <a:spcPts val="3031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65">
                <a:solidFill>
                  <a:srgbClr val="032A3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7 themes </a:t>
            </a:r>
            <a:r>
              <a:rPr lang="en-US" sz="2165">
                <a:solidFill>
                  <a:srgbClr val="032A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span interface design, pedagogy, infrastructure, and institutional support, meaning this is a multi-layered problem with no single fix.</a:t>
            </a:r>
          </a:p>
          <a:p>
            <a:pPr algn="l">
              <a:lnSpc>
                <a:spcPts val="275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02897" y="2986552"/>
            <a:ext cx="9417907" cy="5287543"/>
          </a:xfrm>
          <a:custGeom>
            <a:avLst/>
            <a:gdLst/>
            <a:ahLst/>
            <a:cxnLst/>
            <a:rect r="r" b="b" t="t" l="l"/>
            <a:pathLst>
              <a:path h="5287543" w="9417907">
                <a:moveTo>
                  <a:pt x="0" y="0"/>
                </a:moveTo>
                <a:lnTo>
                  <a:pt x="9417906" y="0"/>
                </a:lnTo>
                <a:lnTo>
                  <a:pt x="9417906" y="5287543"/>
                </a:lnTo>
                <a:lnTo>
                  <a:pt x="0" y="52875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459" t="0" r="-2459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08639"/>
            <a:ext cx="16692103" cy="1002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b="true" sz="7200" spc="-288">
                <a:gradFill>
                  <a:gsLst>
                    <a:gs pos="0">
                      <a:srgbClr val="032A33">
                        <a:alpha val="100000"/>
                      </a:srgbClr>
                    </a:gs>
                    <a:gs pos="100000">
                      <a:srgbClr val="106470">
                        <a:alpha val="100000"/>
                      </a:srgbClr>
                    </a:gs>
                  </a:gsLst>
                  <a:lin ang="5400000"/>
                </a:gradFill>
                <a:latin typeface="Times New Roman Bold"/>
                <a:ea typeface="Times New Roman Bold"/>
                <a:cs typeface="Times New Roman Bold"/>
                <a:sym typeface="Times New Roman Bold"/>
              </a:rPr>
              <a:t>Quantitative Data Analysis (n=222)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415087" y="8434470"/>
            <a:ext cx="5623560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b="true" sz="2700">
                <a:solidFill>
                  <a:srgbClr val="032A3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Figure : Hypothesis Testing Summary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89465" y="2189853"/>
            <a:ext cx="7092343" cy="7820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4008" indent="-257004" lvl="1">
              <a:lnSpc>
                <a:spcPts val="3333"/>
              </a:lnSpc>
              <a:buFont typeface="Arial"/>
              <a:buChar char="•"/>
            </a:pPr>
            <a:r>
              <a:rPr lang="en-US" b="true" sz="2380">
                <a:solidFill>
                  <a:srgbClr val="032A3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All 7 hypotheses reject H₀ findings are statistically consistent across every dimension tested.</a:t>
            </a:r>
          </a:p>
          <a:p>
            <a:pPr algn="just">
              <a:lnSpc>
                <a:spcPts val="2790"/>
              </a:lnSpc>
            </a:pPr>
          </a:p>
          <a:p>
            <a:pPr algn="just" marL="451217" indent="-225608" lvl="1">
              <a:lnSpc>
                <a:spcPts val="2925"/>
              </a:lnSpc>
              <a:buFont typeface="Arial"/>
              <a:buChar char="•"/>
            </a:pPr>
            <a:r>
              <a:rPr lang="en-US" sz="2089">
                <a:solidFill>
                  <a:srgbClr val="032A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Chi-square dominates the evidence: non-uniform distributions confirmed in UI issues, platform use, training methods, notifications, and role perception.</a:t>
            </a:r>
          </a:p>
          <a:p>
            <a:pPr algn="just">
              <a:lnSpc>
                <a:spcPts val="2925"/>
              </a:lnSpc>
            </a:pPr>
          </a:p>
          <a:p>
            <a:pPr algn="just" marL="451217" indent="-225608" lvl="1">
              <a:lnSpc>
                <a:spcPts val="2925"/>
              </a:lnSpc>
              <a:buFont typeface="Arial"/>
              <a:buChar char="•"/>
            </a:pPr>
            <a:r>
              <a:rPr lang="en-US" sz="2089">
                <a:solidFill>
                  <a:srgbClr val="032A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two t-tests (H3, H6, H7) all sit above or below the neutral midpoint - not just significant, but directionally meaningful.</a:t>
            </a:r>
          </a:p>
          <a:p>
            <a:pPr algn="just">
              <a:lnSpc>
                <a:spcPts val="2790"/>
              </a:lnSpc>
            </a:pPr>
          </a:p>
          <a:p>
            <a:pPr algn="just" marL="451217" indent="-225608" lvl="1">
              <a:lnSpc>
                <a:spcPts val="2925"/>
              </a:lnSpc>
              <a:buFont typeface="Arial"/>
              <a:buChar char="•"/>
            </a:pPr>
            <a:r>
              <a:rPr lang="en-US" sz="2089">
                <a:solidFill>
                  <a:srgbClr val="032A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H2 is the nuanced outlier: t-test non-significant (p = 0.453), yet chi-square still rejects H₀ - students are objectively fragmented across platforms even if disruption feels normalized.</a:t>
            </a:r>
          </a:p>
          <a:p>
            <a:pPr algn="just">
              <a:lnSpc>
                <a:spcPts val="2790"/>
              </a:lnSpc>
            </a:pPr>
          </a:p>
          <a:p>
            <a:pPr algn="just" marL="451217" indent="-225608" lvl="1">
              <a:lnSpc>
                <a:spcPts val="2925"/>
              </a:lnSpc>
              <a:buFont typeface="Arial"/>
              <a:buChar char="•"/>
            </a:pPr>
            <a:r>
              <a:rPr lang="en-US" sz="2089">
                <a:solidFill>
                  <a:srgbClr val="032A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Lowest significance: H6 (p = 0.001) still strong, but instructor proficiency has the weakest effect relative to the rest.</a:t>
            </a:r>
          </a:p>
          <a:p>
            <a:pPr algn="just">
              <a:lnSpc>
                <a:spcPts val="2790"/>
              </a:lnSpc>
            </a:pPr>
          </a:p>
          <a:p>
            <a:pPr algn="just" marL="451217" indent="-225608" lvl="1">
              <a:lnSpc>
                <a:spcPts val="2925"/>
              </a:lnSpc>
              <a:buFont typeface="Arial"/>
              <a:buChar char="•"/>
            </a:pPr>
            <a:r>
              <a:rPr lang="en-US" b="true" sz="2089">
                <a:solidFill>
                  <a:srgbClr val="032A3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Qualitative themes (cluttered navigation, informal self-learning, LMS-as-repository) are directly corroborated by the quantitative results.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F2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47855" y="2032544"/>
            <a:ext cx="16103085" cy="1118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4641" indent="-252320" lvl="1">
              <a:lnSpc>
                <a:spcPts val="5188"/>
              </a:lnSpc>
              <a:buFont typeface="Arial"/>
              <a:buChar char="•"/>
            </a:pPr>
            <a:r>
              <a:rPr lang="en-US" sz="2337" spc="-7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fully functioning LMS (not a mockup), built with html, css, js, and php. It’s grounded in Norman's Design Principles and Universal Design.</a:t>
            </a:r>
          </a:p>
          <a:p>
            <a:pPr algn="l" marL="504641" indent="-252320" lvl="1">
              <a:lnSpc>
                <a:spcPts val="3202"/>
              </a:lnSpc>
              <a:buFont typeface="Arial"/>
              <a:buChar char="•"/>
            </a:pPr>
            <a:r>
              <a:rPr lang="en-US" sz="2337" spc="-7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Every feature traces back to a finding - no speculative design.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47855" y="763837"/>
            <a:ext cx="16930718" cy="1021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90"/>
              </a:lnSpc>
              <a:spcBef>
                <a:spcPct val="0"/>
              </a:spcBef>
            </a:pPr>
            <a:r>
              <a:rPr lang="en-US" b="true" sz="6900" spc="-476">
                <a:gradFill>
                  <a:gsLst>
                    <a:gs pos="0">
                      <a:srgbClr val="032A33">
                        <a:alpha val="100000"/>
                      </a:srgbClr>
                    </a:gs>
                    <a:gs pos="100000">
                      <a:srgbClr val="106470">
                        <a:alpha val="100000"/>
                      </a:srgbClr>
                    </a:gs>
                  </a:gsLst>
                  <a:lin ang="5400000"/>
                </a:gradFill>
                <a:latin typeface="Times New Roman Bold"/>
                <a:ea typeface="Times New Roman Bold"/>
                <a:cs typeface="Times New Roman Bold"/>
                <a:sym typeface="Times New Roman Bold"/>
              </a:rPr>
              <a:t>From F</a:t>
            </a:r>
            <a:r>
              <a:rPr lang="en-US" b="true" sz="6900" spc="-476">
                <a:gradFill>
                  <a:gsLst>
                    <a:gs pos="0">
                      <a:srgbClr val="032A33">
                        <a:alpha val="100000"/>
                      </a:srgbClr>
                    </a:gs>
                    <a:gs pos="100000">
                      <a:srgbClr val="106470">
                        <a:alpha val="100000"/>
                      </a:srgbClr>
                    </a:gs>
                  </a:gsLst>
                  <a:lin ang="5400000"/>
                </a:gradFill>
                <a:latin typeface="Times New Roman Bold"/>
                <a:ea typeface="Times New Roman Bold"/>
                <a:cs typeface="Times New Roman Bold"/>
                <a:sym typeface="Times New Roman Bold"/>
              </a:rPr>
              <a:t>indings to a Working Prototype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3731" y="3626874"/>
            <a:ext cx="6359522" cy="551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9"/>
              </a:lnSpc>
              <a:spcBef>
                <a:spcPct val="0"/>
              </a:spcBef>
            </a:pPr>
            <a:r>
              <a:rPr lang="en-US" b="true" sz="3699" spc="270">
                <a:gradFill>
                  <a:gsLst>
                    <a:gs pos="0">
                      <a:srgbClr val="032A33">
                        <a:alpha val="100000"/>
                      </a:srgbClr>
                    </a:gs>
                    <a:gs pos="100000">
                      <a:srgbClr val="106470">
                        <a:alpha val="100000"/>
                      </a:srgbClr>
                    </a:gs>
                  </a:gsLst>
                  <a:lin ang="5400000"/>
                </a:gradFill>
                <a:latin typeface="Times New Roman Bold"/>
                <a:ea typeface="Times New Roman Bold"/>
                <a:cs typeface="Times New Roman Bold"/>
                <a:sym typeface="Times New Roman Bold"/>
              </a:rPr>
              <a:t>Us</a:t>
            </a:r>
            <a:r>
              <a:rPr lang="en-US" b="true" sz="3699" spc="270">
                <a:gradFill>
                  <a:gsLst>
                    <a:gs pos="0">
                      <a:srgbClr val="032A33">
                        <a:alpha val="100000"/>
                      </a:srgbClr>
                    </a:gs>
                    <a:gs pos="100000">
                      <a:srgbClr val="106470">
                        <a:alpha val="100000"/>
                      </a:srgbClr>
                    </a:gs>
                  </a:gsLst>
                  <a:lin ang="5400000"/>
                </a:gradFill>
                <a:latin typeface="Times New Roman Bold"/>
                <a:ea typeface="Times New Roman Bold"/>
                <a:cs typeface="Times New Roman Bold"/>
                <a:sym typeface="Times New Roman Bold"/>
              </a:rPr>
              <a:t>ability Problem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270854" y="3675194"/>
            <a:ext cx="4815995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89"/>
              </a:lnSpc>
              <a:spcBef>
                <a:spcPct val="0"/>
              </a:spcBef>
            </a:pPr>
            <a:r>
              <a:rPr lang="en-US" b="true" sz="3899" spc="284">
                <a:gradFill>
                  <a:gsLst>
                    <a:gs pos="0">
                      <a:srgbClr val="032A33">
                        <a:alpha val="100000"/>
                      </a:srgbClr>
                    </a:gs>
                    <a:gs pos="100000">
                      <a:srgbClr val="106470">
                        <a:alpha val="100000"/>
                      </a:srgbClr>
                    </a:gs>
                  </a:gsLst>
                  <a:lin ang="5400000"/>
                </a:gradFill>
                <a:latin typeface="Times New Roman Bold"/>
                <a:ea typeface="Times New Roman Bold"/>
                <a:cs typeface="Times New Roman Bold"/>
                <a:sym typeface="Times New Roman Bold"/>
              </a:rPr>
              <a:t>Pr</a:t>
            </a:r>
            <a:r>
              <a:rPr lang="en-US" b="true" sz="3899" spc="284">
                <a:gradFill>
                  <a:gsLst>
                    <a:gs pos="0">
                      <a:srgbClr val="032A33">
                        <a:alpha val="100000"/>
                      </a:srgbClr>
                    </a:gs>
                    <a:gs pos="100000">
                      <a:srgbClr val="106470">
                        <a:alpha val="100000"/>
                      </a:srgbClr>
                    </a:gs>
                  </a:gsLst>
                  <a:lin ang="5400000"/>
                </a:gradFill>
                <a:latin typeface="Times New Roman Bold"/>
                <a:ea typeface="Times New Roman Bold"/>
                <a:cs typeface="Times New Roman Bold"/>
                <a:sym typeface="Times New Roman Bold"/>
              </a:rPr>
              <a:t>ototype Feature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747855" y="4439093"/>
            <a:ext cx="4931274" cy="5028100"/>
            <a:chOff x="0" y="0"/>
            <a:chExt cx="1298772" cy="132427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98772" cy="1324273"/>
            </a:xfrm>
            <a:custGeom>
              <a:avLst/>
              <a:gdLst/>
              <a:ahLst/>
              <a:cxnLst/>
              <a:rect r="r" b="b" t="t" l="l"/>
              <a:pathLst>
                <a:path h="1324273" w="1298772">
                  <a:moveTo>
                    <a:pt x="28259" y="0"/>
                  </a:moveTo>
                  <a:lnTo>
                    <a:pt x="1270512" y="0"/>
                  </a:lnTo>
                  <a:cubicBezTo>
                    <a:pt x="1278007" y="0"/>
                    <a:pt x="1285195" y="2977"/>
                    <a:pt x="1290495" y="8277"/>
                  </a:cubicBezTo>
                  <a:cubicBezTo>
                    <a:pt x="1295794" y="13577"/>
                    <a:pt x="1298772" y="20764"/>
                    <a:pt x="1298772" y="28259"/>
                  </a:cubicBezTo>
                  <a:lnTo>
                    <a:pt x="1298772" y="1296014"/>
                  </a:lnTo>
                  <a:cubicBezTo>
                    <a:pt x="1298772" y="1303509"/>
                    <a:pt x="1295794" y="1310697"/>
                    <a:pt x="1290495" y="1315996"/>
                  </a:cubicBezTo>
                  <a:cubicBezTo>
                    <a:pt x="1285195" y="1321296"/>
                    <a:pt x="1278007" y="1324273"/>
                    <a:pt x="1270512" y="1324273"/>
                  </a:cubicBezTo>
                  <a:lnTo>
                    <a:pt x="28259" y="1324273"/>
                  </a:lnTo>
                  <a:cubicBezTo>
                    <a:pt x="20764" y="1324273"/>
                    <a:pt x="13577" y="1321296"/>
                    <a:pt x="8277" y="1315996"/>
                  </a:cubicBezTo>
                  <a:cubicBezTo>
                    <a:pt x="2977" y="1310697"/>
                    <a:pt x="0" y="1303509"/>
                    <a:pt x="0" y="1296014"/>
                  </a:cubicBezTo>
                  <a:lnTo>
                    <a:pt x="0" y="28259"/>
                  </a:lnTo>
                  <a:cubicBezTo>
                    <a:pt x="0" y="20764"/>
                    <a:pt x="2977" y="13577"/>
                    <a:pt x="8277" y="8277"/>
                  </a:cubicBezTo>
                  <a:cubicBezTo>
                    <a:pt x="13577" y="2977"/>
                    <a:pt x="20764" y="0"/>
                    <a:pt x="2825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22000"/>
                  </a:srgbClr>
                </a:gs>
                <a:gs pos="100000">
                  <a:srgbClr val="FFFFFF">
                    <a:alpha val="22500"/>
                  </a:srgbClr>
                </a:gs>
              </a:gsLst>
              <a:lin ang="0"/>
            </a:gradFill>
            <a:ln w="19050" cap="sq">
              <a:solidFill>
                <a:srgbClr val="0F506A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298772" cy="13623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679129" y="4439093"/>
            <a:ext cx="11999444" cy="5028100"/>
            <a:chOff x="0" y="0"/>
            <a:chExt cx="3160347" cy="132427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160347" cy="1324273"/>
            </a:xfrm>
            <a:custGeom>
              <a:avLst/>
              <a:gdLst/>
              <a:ahLst/>
              <a:cxnLst/>
              <a:rect r="r" b="b" t="t" l="l"/>
              <a:pathLst>
                <a:path h="1324273" w="3160347">
                  <a:moveTo>
                    <a:pt x="11613" y="0"/>
                  </a:moveTo>
                  <a:lnTo>
                    <a:pt x="3148734" y="0"/>
                  </a:lnTo>
                  <a:cubicBezTo>
                    <a:pt x="3155148" y="0"/>
                    <a:pt x="3160347" y="5200"/>
                    <a:pt x="3160347" y="11613"/>
                  </a:cubicBezTo>
                  <a:lnTo>
                    <a:pt x="3160347" y="1312660"/>
                  </a:lnTo>
                  <a:cubicBezTo>
                    <a:pt x="3160347" y="1315740"/>
                    <a:pt x="3159124" y="1318694"/>
                    <a:pt x="3156946" y="1320872"/>
                  </a:cubicBezTo>
                  <a:cubicBezTo>
                    <a:pt x="3154768" y="1323050"/>
                    <a:pt x="3151814" y="1324273"/>
                    <a:pt x="3148734" y="1324273"/>
                  </a:cubicBezTo>
                  <a:lnTo>
                    <a:pt x="11613" y="1324273"/>
                  </a:lnTo>
                  <a:cubicBezTo>
                    <a:pt x="5200" y="1324273"/>
                    <a:pt x="0" y="1319074"/>
                    <a:pt x="0" y="1312660"/>
                  </a:cubicBezTo>
                  <a:lnTo>
                    <a:pt x="0" y="11613"/>
                  </a:lnTo>
                  <a:cubicBezTo>
                    <a:pt x="0" y="5200"/>
                    <a:pt x="5200" y="0"/>
                    <a:pt x="1161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22000"/>
                  </a:srgbClr>
                </a:gs>
                <a:gs pos="100000">
                  <a:srgbClr val="FFFFFF">
                    <a:alpha val="22500"/>
                  </a:srgbClr>
                </a:gs>
              </a:gsLst>
              <a:lin ang="0"/>
            </a:gradFill>
            <a:ln w="19050" cap="sq">
              <a:solidFill>
                <a:srgbClr val="0F506A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160347" cy="13623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957120" y="4416119"/>
            <a:ext cx="4144397" cy="5430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7"/>
              </a:lnSpc>
            </a:pPr>
            <a:r>
              <a:rPr lang="en-US" sz="2136" spc="15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Platf</a:t>
            </a:r>
            <a:r>
              <a:rPr lang="en-US" sz="2136" spc="15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orm fragmentation</a:t>
            </a:r>
          </a:p>
          <a:p>
            <a:pPr algn="ctr">
              <a:lnSpc>
                <a:spcPts val="4807"/>
              </a:lnSpc>
            </a:pPr>
            <a:r>
              <a:rPr lang="en-US" sz="2136" spc="15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UI / findability</a:t>
            </a:r>
          </a:p>
          <a:p>
            <a:pPr algn="ctr">
              <a:lnSpc>
                <a:spcPts val="4807"/>
              </a:lnSpc>
            </a:pPr>
            <a:r>
              <a:rPr lang="en-US" sz="2136" spc="15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Notification overload</a:t>
            </a:r>
          </a:p>
          <a:p>
            <a:pPr algn="ctr">
              <a:lnSpc>
                <a:spcPts val="4807"/>
              </a:lnSpc>
            </a:pPr>
            <a:r>
              <a:rPr lang="en-US" sz="2136" spc="15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Weak communication</a:t>
            </a:r>
          </a:p>
          <a:p>
            <a:pPr algn="ctr">
              <a:lnSpc>
                <a:spcPts val="4807"/>
              </a:lnSpc>
            </a:pPr>
            <a:r>
              <a:rPr lang="en-US" sz="2136" spc="15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Training gaps</a:t>
            </a:r>
          </a:p>
          <a:p>
            <a:pPr algn="ctr">
              <a:lnSpc>
                <a:spcPts val="4807"/>
              </a:lnSpc>
            </a:pPr>
            <a:r>
              <a:rPr lang="en-US" sz="2136" spc="15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Instructor inconsistency</a:t>
            </a:r>
          </a:p>
          <a:p>
            <a:pPr algn="ctr">
              <a:lnSpc>
                <a:spcPts val="4807"/>
              </a:lnSpc>
            </a:pPr>
            <a:r>
              <a:rPr lang="en-US" sz="2136" spc="15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Technical / session issues</a:t>
            </a:r>
          </a:p>
          <a:p>
            <a:pPr algn="ctr">
              <a:lnSpc>
                <a:spcPts val="4807"/>
              </a:lnSpc>
            </a:pPr>
            <a:r>
              <a:rPr lang="en-US" sz="2136" spc="15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Accessibility</a:t>
            </a:r>
          </a:p>
          <a:p>
            <a:pPr algn="ctr">
              <a:lnSpc>
                <a:spcPts val="4807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5462012" y="4525836"/>
            <a:ext cx="12433678" cy="4732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81"/>
              </a:lnSpc>
            </a:pPr>
            <a:r>
              <a:rPr lang="en-US" sz="1912" spc="13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Unified dashb</a:t>
            </a:r>
            <a:r>
              <a:rPr lang="en-US" sz="1912" spc="13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oard, consistent top nav, tabbed course hub, global search</a:t>
            </a:r>
          </a:p>
          <a:p>
            <a:pPr algn="ctr">
              <a:lnSpc>
                <a:spcPts val="4781"/>
              </a:lnSpc>
            </a:pPr>
            <a:r>
              <a:rPr lang="en-US" sz="1912" spc="13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Materials tab with scoped search, filter chips, inline preview, pinning</a:t>
            </a:r>
          </a:p>
          <a:p>
            <a:pPr algn="ctr">
              <a:lnSpc>
                <a:spcPts val="4781"/>
              </a:lnSpc>
            </a:pPr>
            <a:r>
              <a:rPr lang="en-US" sz="1912" spc="13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Notifications center, priority tabs, per-type/per-course preferences, color-coded deadlines</a:t>
            </a:r>
          </a:p>
          <a:p>
            <a:pPr algn="ctr">
              <a:lnSpc>
                <a:spcPts val="4781"/>
              </a:lnSpc>
            </a:pPr>
            <a:r>
              <a:rPr lang="en-US" sz="1912" spc="13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In-course discussion: channels, mentions, threads, pins, search</a:t>
            </a:r>
          </a:p>
          <a:p>
            <a:pPr algn="ctr">
              <a:lnSpc>
                <a:spcPts val="4781"/>
              </a:lnSpc>
            </a:pPr>
            <a:r>
              <a:rPr lang="en-US" sz="1912" spc="13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4-step onboarding tour + video tutorial, FAQ</a:t>
            </a:r>
          </a:p>
          <a:p>
            <a:pPr algn="ctr">
              <a:lnSpc>
                <a:spcPts val="4781"/>
              </a:lnSpc>
            </a:pPr>
            <a:r>
              <a:rPr lang="en-US" sz="1912" spc="13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 switching (student ↔ faculty), faculty dashboard + grading</a:t>
            </a:r>
          </a:p>
          <a:p>
            <a:pPr algn="ctr">
              <a:lnSpc>
                <a:spcPts val="4781"/>
              </a:lnSpc>
            </a:pPr>
            <a:r>
              <a:rPr lang="en-US" sz="1912" spc="13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Persistent "Session: Active" indicator, friendly re-auth cues</a:t>
            </a:r>
          </a:p>
          <a:p>
            <a:pPr algn="ctr">
              <a:lnSpc>
                <a:spcPts val="4781"/>
              </a:lnSpc>
            </a:pPr>
            <a:r>
              <a:rPr lang="en-US" sz="1912" spc="13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English ⇄ Bangla toggle, dyslexia font, high-contrast, keyboard nav, guest browsing</a:t>
            </a:r>
          </a:p>
        </p:txBody>
      </p:sp>
      <p:sp>
        <p:nvSpPr>
          <p:cNvPr name="AutoShape 14" id="14"/>
          <p:cNvSpPr/>
          <p:nvPr/>
        </p:nvSpPr>
        <p:spPr>
          <a:xfrm>
            <a:off x="747855" y="5162550"/>
            <a:ext cx="16973679" cy="0"/>
          </a:xfrm>
          <a:prstGeom prst="line">
            <a:avLst/>
          </a:prstGeom>
          <a:ln cap="flat" w="38100">
            <a:solidFill>
              <a:srgbClr val="0F506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flipV="true">
            <a:off x="796814" y="5741516"/>
            <a:ext cx="16881759" cy="0"/>
          </a:xfrm>
          <a:prstGeom prst="line">
            <a:avLst/>
          </a:prstGeom>
          <a:ln cap="flat" w="38100">
            <a:solidFill>
              <a:srgbClr val="0F506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747855" y="6409723"/>
            <a:ext cx="16882984" cy="0"/>
          </a:xfrm>
          <a:prstGeom prst="line">
            <a:avLst/>
          </a:prstGeom>
          <a:ln cap="flat" w="38100">
            <a:solidFill>
              <a:srgbClr val="0F506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747855" y="6953143"/>
            <a:ext cx="17004433" cy="0"/>
          </a:xfrm>
          <a:prstGeom prst="line">
            <a:avLst/>
          </a:prstGeom>
          <a:ln cap="flat" w="38100">
            <a:solidFill>
              <a:srgbClr val="0F506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747855" y="7496068"/>
            <a:ext cx="16882984" cy="0"/>
          </a:xfrm>
          <a:prstGeom prst="line">
            <a:avLst/>
          </a:prstGeom>
          <a:ln cap="flat" w="38100">
            <a:solidFill>
              <a:srgbClr val="0F506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790045" y="8098528"/>
            <a:ext cx="16840795" cy="0"/>
          </a:xfrm>
          <a:prstGeom prst="line">
            <a:avLst/>
          </a:prstGeom>
          <a:ln cap="flat" w="38100">
            <a:solidFill>
              <a:srgbClr val="0F506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>
            <a:off x="704894" y="8784328"/>
            <a:ext cx="16973679" cy="0"/>
          </a:xfrm>
          <a:prstGeom prst="line">
            <a:avLst/>
          </a:prstGeom>
          <a:ln cap="flat" w="38100">
            <a:solidFill>
              <a:srgbClr val="0F506A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1064" y="2544339"/>
            <a:ext cx="3335118" cy="6876723"/>
            <a:chOff x="0" y="0"/>
            <a:chExt cx="534591" cy="1102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34591" cy="1102280"/>
            </a:xfrm>
            <a:custGeom>
              <a:avLst/>
              <a:gdLst/>
              <a:ahLst/>
              <a:cxnLst/>
              <a:rect r="r" b="b" t="t" l="l"/>
              <a:pathLst>
                <a:path h="1102280" w="534591">
                  <a:moveTo>
                    <a:pt x="0" y="0"/>
                  </a:moveTo>
                  <a:lnTo>
                    <a:pt x="534591" y="0"/>
                  </a:lnTo>
                  <a:lnTo>
                    <a:pt x="534591" y="1102280"/>
                  </a:lnTo>
                  <a:lnTo>
                    <a:pt x="0" y="1102280"/>
                  </a:lnTo>
                  <a:close/>
                </a:path>
              </a:pathLst>
            </a:custGeom>
            <a:blipFill>
              <a:blip r:embed="rId2"/>
              <a:stretch>
                <a:fillRect l="-3338" t="0" r="-3338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676534" y="2544339"/>
            <a:ext cx="3335118" cy="6876723"/>
            <a:chOff x="0" y="0"/>
            <a:chExt cx="534591" cy="11022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34591" cy="1102280"/>
            </a:xfrm>
            <a:custGeom>
              <a:avLst/>
              <a:gdLst/>
              <a:ahLst/>
              <a:cxnLst/>
              <a:rect r="r" b="b" t="t" l="l"/>
              <a:pathLst>
                <a:path h="1102280" w="534591">
                  <a:moveTo>
                    <a:pt x="0" y="0"/>
                  </a:moveTo>
                  <a:lnTo>
                    <a:pt x="534591" y="0"/>
                  </a:lnTo>
                  <a:lnTo>
                    <a:pt x="534591" y="1102280"/>
                  </a:lnTo>
                  <a:lnTo>
                    <a:pt x="0" y="1102280"/>
                  </a:lnTo>
                  <a:close/>
                </a:path>
              </a:pathLst>
            </a:custGeom>
            <a:blipFill>
              <a:blip r:embed="rId3"/>
              <a:stretch>
                <a:fillRect l="-2399" t="0" r="-2399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831387" y="2544339"/>
            <a:ext cx="3335118" cy="6876723"/>
            <a:chOff x="0" y="0"/>
            <a:chExt cx="534591" cy="11022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4591" cy="1102280"/>
            </a:xfrm>
            <a:custGeom>
              <a:avLst/>
              <a:gdLst/>
              <a:ahLst/>
              <a:cxnLst/>
              <a:rect r="r" b="b" t="t" l="l"/>
              <a:pathLst>
                <a:path h="1102280" w="534591">
                  <a:moveTo>
                    <a:pt x="0" y="0"/>
                  </a:moveTo>
                  <a:lnTo>
                    <a:pt x="534591" y="0"/>
                  </a:lnTo>
                  <a:lnTo>
                    <a:pt x="534591" y="1102280"/>
                  </a:lnTo>
                  <a:lnTo>
                    <a:pt x="0" y="1102280"/>
                  </a:lnTo>
                  <a:close/>
                </a:path>
              </a:pathLst>
            </a:custGeom>
            <a:blipFill>
              <a:blip r:embed="rId4"/>
              <a:stretch>
                <a:fillRect l="-1453" t="0" r="-1453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24293" y="2544339"/>
            <a:ext cx="4148984" cy="6876723"/>
            <a:chOff x="0" y="0"/>
            <a:chExt cx="665047" cy="11022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65047" cy="1102280"/>
            </a:xfrm>
            <a:custGeom>
              <a:avLst/>
              <a:gdLst/>
              <a:ahLst/>
              <a:cxnLst/>
              <a:rect r="r" b="b" t="t" l="l"/>
              <a:pathLst>
                <a:path h="1102280" w="665047">
                  <a:moveTo>
                    <a:pt x="0" y="0"/>
                  </a:moveTo>
                  <a:lnTo>
                    <a:pt x="665047" y="0"/>
                  </a:lnTo>
                  <a:lnTo>
                    <a:pt x="665047" y="1102280"/>
                  </a:lnTo>
                  <a:lnTo>
                    <a:pt x="0" y="1102280"/>
                  </a:lnTo>
                  <a:close/>
                </a:path>
              </a:pathLst>
            </a:custGeom>
            <a:blipFill>
              <a:blip r:embed="rId5"/>
              <a:stretch>
                <a:fillRect l="0" t="-278" r="0" b="-278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5217593" y="28575"/>
            <a:ext cx="7948912" cy="206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20"/>
              </a:lnSpc>
              <a:spcBef>
                <a:spcPct val="0"/>
              </a:spcBef>
            </a:pPr>
            <a:r>
              <a:rPr lang="en-US" b="true" sz="7200" spc="-266">
                <a:gradFill>
                  <a:gsLst>
                    <a:gs pos="0">
                      <a:srgbClr val="032A33">
                        <a:alpha val="100000"/>
                      </a:srgbClr>
                    </a:gs>
                    <a:gs pos="100000">
                      <a:srgbClr val="106470">
                        <a:alpha val="100000"/>
                      </a:srgbClr>
                    </a:gs>
                  </a:gsLst>
                  <a:lin ang="5400000"/>
                </a:gra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Prototype</a:t>
            </a:r>
          </a:p>
          <a:p>
            <a:pPr algn="ctr">
              <a:lnSpc>
                <a:spcPts val="7920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5326048" y="9554614"/>
            <a:ext cx="4145474" cy="241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2"/>
              </a:lnSpc>
              <a:spcBef>
                <a:spcPct val="0"/>
              </a:spcBef>
            </a:pPr>
            <a:r>
              <a:rPr lang="en-US" b="true" sz="1593" spc="11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Figure: Student Drawer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25886" y="9554614"/>
            <a:ext cx="4145474" cy="241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2"/>
              </a:lnSpc>
              <a:spcBef>
                <a:spcPct val="0"/>
              </a:spcBef>
            </a:pPr>
            <a:r>
              <a:rPr lang="en-US" b="true" sz="1593" spc="11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Figure: Student Dashboard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271356" y="9554614"/>
            <a:ext cx="4145474" cy="241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2"/>
              </a:lnSpc>
              <a:spcBef>
                <a:spcPct val="0"/>
              </a:spcBef>
            </a:pPr>
            <a:r>
              <a:rPr lang="en-US" b="true" sz="1593" spc="11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Figure: Materials Repository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426209" y="9554614"/>
            <a:ext cx="4145474" cy="241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2"/>
              </a:lnSpc>
              <a:spcBef>
                <a:spcPct val="0"/>
              </a:spcBef>
            </a:pPr>
            <a:r>
              <a:rPr lang="en-US" b="true" sz="1593" spc="11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Figure: Routine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28222" y="1367084"/>
            <a:ext cx="17831557" cy="844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92"/>
              </a:lnSpc>
              <a:spcBef>
                <a:spcPct val="0"/>
              </a:spcBef>
            </a:pPr>
            <a:r>
              <a:rPr lang="en-US" sz="1993" spc="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slide displays the primary mobile interfaces of the student portal, including the consolidated c</a:t>
            </a:r>
            <a:r>
              <a:rPr lang="en-US" sz="1993" spc="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ourse landing page, sidebar navigation drawer, and daily timetable routine. While not pictured here, the full desktop dashboard and specialized top navigation headers ensure a consistent and responsive experience across all user devices. Additionally, a guest browsing module is supported to display public course materials to external users, while locking and blurring institution-private content.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00684" y="2468367"/>
            <a:ext cx="3391661" cy="6993310"/>
            <a:chOff x="0" y="0"/>
            <a:chExt cx="534591" cy="1102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34591" cy="1102280"/>
            </a:xfrm>
            <a:custGeom>
              <a:avLst/>
              <a:gdLst/>
              <a:ahLst/>
              <a:cxnLst/>
              <a:rect r="r" b="b" t="t" l="l"/>
              <a:pathLst>
                <a:path h="1102280" w="534591">
                  <a:moveTo>
                    <a:pt x="0" y="0"/>
                  </a:moveTo>
                  <a:lnTo>
                    <a:pt x="534591" y="0"/>
                  </a:lnTo>
                  <a:lnTo>
                    <a:pt x="534591" y="1102280"/>
                  </a:lnTo>
                  <a:lnTo>
                    <a:pt x="0" y="1102280"/>
                  </a:lnTo>
                  <a:close/>
                </a:path>
              </a:pathLst>
            </a:custGeom>
            <a:blipFill>
              <a:blip r:embed="rId2"/>
              <a:stretch>
                <a:fillRect l="-7733" t="0" r="-7733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750371" y="2468367"/>
            <a:ext cx="3391661" cy="6993310"/>
            <a:chOff x="0" y="0"/>
            <a:chExt cx="534591" cy="11022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34591" cy="1102280"/>
            </a:xfrm>
            <a:custGeom>
              <a:avLst/>
              <a:gdLst/>
              <a:ahLst/>
              <a:cxnLst/>
              <a:rect r="r" b="b" t="t" l="l"/>
              <a:pathLst>
                <a:path h="1102280" w="534591">
                  <a:moveTo>
                    <a:pt x="0" y="0"/>
                  </a:moveTo>
                  <a:lnTo>
                    <a:pt x="534591" y="0"/>
                  </a:lnTo>
                  <a:lnTo>
                    <a:pt x="534591" y="1102280"/>
                  </a:lnTo>
                  <a:lnTo>
                    <a:pt x="0" y="1102280"/>
                  </a:lnTo>
                  <a:close/>
                </a:path>
              </a:pathLst>
            </a:custGeom>
            <a:blipFill>
              <a:blip r:embed="rId3"/>
              <a:stretch>
                <a:fillRect l="-4921" t="0" r="-492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665903" y="2468367"/>
            <a:ext cx="3391661" cy="6993310"/>
            <a:chOff x="0" y="0"/>
            <a:chExt cx="534591" cy="11022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4591" cy="1102280"/>
            </a:xfrm>
            <a:custGeom>
              <a:avLst/>
              <a:gdLst/>
              <a:ahLst/>
              <a:cxnLst/>
              <a:rect r="r" b="b" t="t" l="l"/>
              <a:pathLst>
                <a:path h="1102280" w="534591">
                  <a:moveTo>
                    <a:pt x="0" y="0"/>
                  </a:moveTo>
                  <a:lnTo>
                    <a:pt x="534591" y="0"/>
                  </a:lnTo>
                  <a:lnTo>
                    <a:pt x="534591" y="1102280"/>
                  </a:lnTo>
                  <a:lnTo>
                    <a:pt x="0" y="1102280"/>
                  </a:lnTo>
                  <a:close/>
                </a:path>
              </a:pathLst>
            </a:custGeom>
            <a:blipFill>
              <a:blip r:embed="rId4"/>
              <a:stretch>
                <a:fillRect l="-798" t="0" r="-798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538246" y="2468367"/>
            <a:ext cx="3434849" cy="6993310"/>
            <a:chOff x="0" y="0"/>
            <a:chExt cx="541398" cy="11022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41398" cy="1102280"/>
            </a:xfrm>
            <a:custGeom>
              <a:avLst/>
              <a:gdLst/>
              <a:ahLst/>
              <a:cxnLst/>
              <a:rect r="r" b="b" t="t" l="l"/>
              <a:pathLst>
                <a:path h="1102280" w="541398">
                  <a:moveTo>
                    <a:pt x="0" y="0"/>
                  </a:moveTo>
                  <a:lnTo>
                    <a:pt x="541398" y="0"/>
                  </a:lnTo>
                  <a:lnTo>
                    <a:pt x="541398" y="1102280"/>
                  </a:lnTo>
                  <a:lnTo>
                    <a:pt x="0" y="1102280"/>
                  </a:lnTo>
                  <a:close/>
                </a:path>
              </a:pathLst>
            </a:custGeom>
            <a:blipFill>
              <a:blip r:embed="rId5"/>
              <a:stretch>
                <a:fillRect l="-806" t="0" r="-806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6716947" y="11430"/>
            <a:ext cx="5094863" cy="206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20"/>
              </a:lnSpc>
              <a:spcBef>
                <a:spcPct val="0"/>
              </a:spcBef>
            </a:pPr>
            <a:r>
              <a:rPr lang="en-US" b="true" sz="7200" spc="-158">
                <a:gradFill>
                  <a:gsLst>
                    <a:gs pos="0">
                      <a:srgbClr val="032A33">
                        <a:alpha val="100000"/>
                      </a:srgbClr>
                    </a:gs>
                    <a:gs pos="100000">
                      <a:srgbClr val="106470">
                        <a:alpha val="100000"/>
                      </a:srgbClr>
                    </a:gs>
                  </a:gsLst>
                  <a:lin ang="5400000"/>
                </a:gra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Prototype</a:t>
            </a:r>
          </a:p>
          <a:p>
            <a:pPr algn="ctr">
              <a:lnSpc>
                <a:spcPts val="7920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9586424"/>
            <a:ext cx="4145474" cy="241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2"/>
              </a:lnSpc>
              <a:spcBef>
                <a:spcPct val="0"/>
              </a:spcBef>
            </a:pPr>
            <a:r>
              <a:rPr lang="en-US" b="true" sz="1593" spc="11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Figure: Inline Preview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011623" y="9586424"/>
            <a:ext cx="4145474" cy="241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2"/>
              </a:lnSpc>
              <a:spcBef>
                <a:spcPct val="0"/>
              </a:spcBef>
            </a:pPr>
            <a:r>
              <a:rPr lang="en-US" b="true" sz="1593" spc="11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Figure: Global Search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57098" y="9586424"/>
            <a:ext cx="4145474" cy="241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2"/>
              </a:lnSpc>
              <a:spcBef>
                <a:spcPct val="0"/>
              </a:spcBef>
            </a:pPr>
            <a:r>
              <a:rPr lang="en-US" b="true" sz="1593" spc="11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Figure: Notification Settings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302572" y="9586424"/>
            <a:ext cx="4145474" cy="241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2"/>
              </a:lnSpc>
              <a:spcBef>
                <a:spcPct val="0"/>
              </a:spcBef>
            </a:pPr>
            <a:r>
              <a:rPr lang="en-US" b="true" sz="1593" spc="11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Figure: Cummunication Tab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63957" y="1174960"/>
            <a:ext cx="17786281" cy="1169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02"/>
              </a:lnSpc>
              <a:spcBef>
                <a:spcPct val="0"/>
              </a:spcBef>
            </a:pPr>
            <a:r>
              <a:rPr lang="en-US" sz="2093" spc="3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Here, we present the prototype's core usability enhancements, showcasing inline document previews, the omni-</a:t>
            </a:r>
            <a:r>
              <a:rPr lang="en-US" sz="2093" spc="3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search panel, and granular notification preferences. The interface also supports visual accessibility settings such as instant light-theme styling and compact layout density controls that are not displayed in these selections. These are supported by advanced notification menus that separate high-priority deadline alerts from secondary chat messages to prevent cognitive clutter.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22762" y="2620310"/>
            <a:ext cx="3263935" cy="6924860"/>
            <a:chOff x="0" y="0"/>
            <a:chExt cx="519544" cy="1102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9544" cy="1102280"/>
            </a:xfrm>
            <a:custGeom>
              <a:avLst/>
              <a:gdLst/>
              <a:ahLst/>
              <a:cxnLst/>
              <a:rect r="r" b="b" t="t" l="l"/>
              <a:pathLst>
                <a:path h="1102280" w="519544">
                  <a:moveTo>
                    <a:pt x="0" y="0"/>
                  </a:moveTo>
                  <a:lnTo>
                    <a:pt x="519544" y="0"/>
                  </a:lnTo>
                  <a:lnTo>
                    <a:pt x="519544" y="1102280"/>
                  </a:lnTo>
                  <a:lnTo>
                    <a:pt x="0" y="1102280"/>
                  </a:lnTo>
                  <a:close/>
                </a:path>
              </a:pathLst>
            </a:custGeom>
            <a:blipFill>
              <a:blip r:embed="rId2"/>
              <a:stretch>
                <a:fillRect l="-533" t="0" r="-533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409673" y="2620310"/>
            <a:ext cx="3447195" cy="6924860"/>
            <a:chOff x="0" y="0"/>
            <a:chExt cx="548715" cy="11022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715" cy="1102280"/>
            </a:xfrm>
            <a:custGeom>
              <a:avLst/>
              <a:gdLst/>
              <a:ahLst/>
              <a:cxnLst/>
              <a:rect r="r" b="b" t="t" l="l"/>
              <a:pathLst>
                <a:path h="1102280" w="548715">
                  <a:moveTo>
                    <a:pt x="0" y="0"/>
                  </a:moveTo>
                  <a:lnTo>
                    <a:pt x="548715" y="0"/>
                  </a:lnTo>
                  <a:lnTo>
                    <a:pt x="548715" y="1102280"/>
                  </a:lnTo>
                  <a:lnTo>
                    <a:pt x="0" y="1102280"/>
                  </a:lnTo>
                  <a:close/>
                </a:path>
              </a:pathLst>
            </a:custGeom>
            <a:blipFill>
              <a:blip r:embed="rId3"/>
              <a:stretch>
                <a:fillRect l="0" t="-1854" r="0" b="-185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266888" y="2620310"/>
            <a:ext cx="3545922" cy="6924860"/>
            <a:chOff x="0" y="0"/>
            <a:chExt cx="564430" cy="11022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64430" cy="1102280"/>
            </a:xfrm>
            <a:custGeom>
              <a:avLst/>
              <a:gdLst/>
              <a:ahLst/>
              <a:cxnLst/>
              <a:rect r="r" b="b" t="t" l="l"/>
              <a:pathLst>
                <a:path h="1102280" w="564430">
                  <a:moveTo>
                    <a:pt x="0" y="0"/>
                  </a:moveTo>
                  <a:lnTo>
                    <a:pt x="564430" y="0"/>
                  </a:lnTo>
                  <a:lnTo>
                    <a:pt x="564430" y="1102280"/>
                  </a:lnTo>
                  <a:lnTo>
                    <a:pt x="0" y="1102280"/>
                  </a:lnTo>
                  <a:close/>
                </a:path>
              </a:pathLst>
            </a:custGeom>
            <a:blipFill>
              <a:blip r:embed="rId4"/>
              <a:stretch>
                <a:fillRect l="0" t="-1770" r="0" b="-177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454182" y="2620310"/>
            <a:ext cx="3255416" cy="6924860"/>
            <a:chOff x="0" y="0"/>
            <a:chExt cx="518188" cy="11022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18188" cy="1102280"/>
            </a:xfrm>
            <a:custGeom>
              <a:avLst/>
              <a:gdLst/>
              <a:ahLst/>
              <a:cxnLst/>
              <a:rect r="r" b="b" t="t" l="l"/>
              <a:pathLst>
                <a:path h="1102280" w="518188">
                  <a:moveTo>
                    <a:pt x="0" y="0"/>
                  </a:moveTo>
                  <a:lnTo>
                    <a:pt x="518188" y="0"/>
                  </a:lnTo>
                  <a:lnTo>
                    <a:pt x="518188" y="1102280"/>
                  </a:lnTo>
                  <a:lnTo>
                    <a:pt x="0" y="1102280"/>
                  </a:lnTo>
                  <a:close/>
                </a:path>
              </a:pathLst>
            </a:custGeom>
            <a:blipFill>
              <a:blip r:embed="rId5"/>
              <a:stretch>
                <a:fillRect l="0" t="-1098" r="0" b="-1098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6331406" y="28575"/>
            <a:ext cx="5382120" cy="206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20"/>
              </a:lnSpc>
              <a:spcBef>
                <a:spcPct val="0"/>
              </a:spcBef>
            </a:pPr>
            <a:r>
              <a:rPr lang="en-US" b="true" sz="7200" spc="-79">
                <a:gradFill>
                  <a:gsLst>
                    <a:gs pos="0">
                      <a:srgbClr val="032A33">
                        <a:alpha val="100000"/>
                      </a:srgbClr>
                    </a:gs>
                    <a:gs pos="100000">
                      <a:srgbClr val="106470">
                        <a:alpha val="100000"/>
                      </a:srgbClr>
                    </a:gs>
                  </a:gsLst>
                  <a:lin ang="5400000"/>
                </a:gra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Prototype</a:t>
            </a:r>
          </a:p>
          <a:p>
            <a:pPr algn="ctr">
              <a:lnSpc>
                <a:spcPts val="7920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9022467" y="9759634"/>
            <a:ext cx="4034764" cy="244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05"/>
              </a:lnSpc>
              <a:spcBef>
                <a:spcPct val="0"/>
              </a:spcBef>
            </a:pPr>
            <a:r>
              <a:rPr lang="en-US" b="true" sz="1550" spc="11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Figure: Roster Attendence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115889" y="9759634"/>
            <a:ext cx="4034764" cy="244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05"/>
              </a:lnSpc>
              <a:spcBef>
                <a:spcPct val="0"/>
              </a:spcBef>
            </a:pPr>
            <a:r>
              <a:rPr lang="en-US" b="true" sz="1550" spc="11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Figure: Grade Submissions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064507" y="9759634"/>
            <a:ext cx="4034764" cy="244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05"/>
              </a:lnSpc>
              <a:spcBef>
                <a:spcPct val="0"/>
              </a:spcBef>
            </a:pPr>
            <a:r>
              <a:rPr lang="en-US" b="true" sz="1550" spc="11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Figure: Teacher Drawer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37347" y="9759634"/>
            <a:ext cx="4034764" cy="244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05"/>
              </a:lnSpc>
              <a:spcBef>
                <a:spcPct val="0"/>
              </a:spcBef>
            </a:pPr>
            <a:r>
              <a:rPr lang="en-US" b="true" sz="1550" spc="11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Figure: Tutorials and App Support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26831" y="1509502"/>
            <a:ext cx="17634338" cy="942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12"/>
              </a:lnSpc>
              <a:spcBef>
                <a:spcPct val="0"/>
              </a:spcBef>
            </a:pPr>
            <a:r>
              <a:rPr lang="en-US" sz="21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slide demonstrates the self-service video onboarding page alongside the core administrative views of the teacher's grading and attendance portals. Behind these screens lie active fac</a:t>
            </a:r>
            <a:r>
              <a:rPr lang="en-US" sz="21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ulty-student chat histories, course creation forms, and material uploading menus that streamline routine class coordination. Furthermore, a persistent session indicator is embedded across both portals to prevent unexpected user logouts during grading or quiz deployments.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12066" y="1630001"/>
            <a:ext cx="15063868" cy="8021510"/>
          </a:xfrm>
          <a:custGeom>
            <a:avLst/>
            <a:gdLst/>
            <a:ahLst/>
            <a:cxnLst/>
            <a:rect r="r" b="b" t="t" l="l"/>
            <a:pathLst>
              <a:path h="8021510" w="15063868">
                <a:moveTo>
                  <a:pt x="0" y="0"/>
                </a:moveTo>
                <a:lnTo>
                  <a:pt x="15063868" y="0"/>
                </a:lnTo>
                <a:lnTo>
                  <a:pt x="15063868" y="8021510"/>
                </a:lnTo>
                <a:lnTo>
                  <a:pt x="0" y="80215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452940" y="311432"/>
            <a:ext cx="5382120" cy="98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70"/>
              </a:lnSpc>
              <a:spcBef>
                <a:spcPct val="0"/>
              </a:spcBef>
            </a:pPr>
            <a:r>
              <a:rPr lang="en-US" b="true" sz="6700" spc="-73">
                <a:gradFill>
                  <a:gsLst>
                    <a:gs pos="0">
                      <a:srgbClr val="032A33">
                        <a:alpha val="100000"/>
                      </a:srgbClr>
                    </a:gs>
                    <a:gs pos="100000">
                      <a:srgbClr val="106470">
                        <a:alpha val="100000"/>
                      </a:srgbClr>
                    </a:gs>
                  </a:gsLst>
                  <a:lin ang="5400000"/>
                </a:gradFill>
                <a:latin typeface="Times New Roman Bold"/>
                <a:ea typeface="Times New Roman Bold"/>
                <a:cs typeface="Times New Roman Bold"/>
                <a:sym typeface="Times New Roman Bold"/>
              </a:rPr>
              <a:t>Comparisons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solidFill>
          <a:srgbClr val="F2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274754" y="1929765"/>
            <a:ext cx="13408008" cy="6869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8828" indent="-399414" lvl="1">
              <a:lnSpc>
                <a:spcPts val="6141"/>
              </a:lnSpc>
              <a:buFont typeface="Arial"/>
              <a:buChar char="•"/>
            </a:pPr>
            <a:r>
              <a:rPr lang="en-US" b="true" sz="3699" spc="-11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Systemic, not incidental - </a:t>
            </a:r>
            <a:r>
              <a:rPr lang="en-US" sz="3699" spc="-11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seven themes interlock and reinforce each other</a:t>
            </a:r>
          </a:p>
          <a:p>
            <a:pPr algn="l" marL="798828" indent="-399414" lvl="1">
              <a:lnSpc>
                <a:spcPts val="6141"/>
              </a:lnSpc>
              <a:buFont typeface="Arial"/>
              <a:buChar char="•"/>
            </a:pPr>
            <a:r>
              <a:rPr lang="en-US" b="true" sz="3699" spc="-11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Design, not unfamiliarity </a:t>
            </a:r>
            <a:r>
              <a:rPr lang="en-US" sz="3699" spc="-11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- 85%+ had 3+ years' use, yet still struggled</a:t>
            </a:r>
          </a:p>
          <a:p>
            <a:pPr algn="l" marL="798828" indent="-399414" lvl="1">
              <a:lnSpc>
                <a:spcPts val="6141"/>
              </a:lnSpc>
              <a:buFont typeface="Arial"/>
              <a:buChar char="•"/>
            </a:pPr>
            <a:r>
              <a:rPr lang="en-US" b="true" sz="3699" spc="-11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Confirms pri</a:t>
            </a:r>
            <a:r>
              <a:rPr lang="en-US" b="true" sz="3699" spc="-11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or work</a:t>
            </a:r>
            <a:r>
              <a:rPr lang="en-US" sz="3699" spc="-11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but reframes it - fragmentation here is governance failure, not user choice</a:t>
            </a:r>
          </a:p>
          <a:p>
            <a:pPr algn="l" marL="798828" indent="-399414" lvl="1">
              <a:lnSpc>
                <a:spcPts val="6141"/>
              </a:lnSpc>
              <a:buFont typeface="Arial"/>
              <a:buChar char="•"/>
            </a:pPr>
            <a:r>
              <a:rPr lang="en-US" b="true" sz="3699" spc="-11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Extends Lu / Schmidt / Shin </a:t>
            </a:r>
            <a:r>
              <a:rPr lang="en-US" sz="3699" spc="-11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reliability and support outrank interface polish</a:t>
            </a:r>
          </a:p>
          <a:p>
            <a:pPr algn="l" marL="798828" indent="-399414" lvl="1">
              <a:lnSpc>
                <a:spcPts val="6141"/>
              </a:lnSpc>
              <a:buFont typeface="Arial"/>
              <a:buChar char="•"/>
            </a:pPr>
            <a:r>
              <a:rPr lang="en-US" b="true" sz="3699" spc="-11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Aesthetics ≠ usability </a:t>
            </a:r>
            <a:r>
              <a:rPr lang="en-US" sz="3699" spc="-11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architecture and instructor behaviour decide it</a:t>
            </a:r>
          </a:p>
          <a:p>
            <a:pPr algn="l" marL="734059" indent="-367030" lvl="1">
              <a:lnSpc>
                <a:spcPts val="5643"/>
              </a:lnSpc>
              <a:buFont typeface="Arial"/>
              <a:buChar char="•"/>
            </a:pPr>
            <a:r>
              <a:rPr lang="en-US" b="true" sz="3399" spc="-10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Implications - consolidate + train · consistent practice · lightweight design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93942" y="908403"/>
            <a:ext cx="15900115" cy="1062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20"/>
              </a:lnSpc>
              <a:spcBef>
                <a:spcPct val="0"/>
              </a:spcBef>
            </a:pPr>
            <a:r>
              <a:rPr lang="en-US" b="true" sz="7200" spc="-417">
                <a:gradFill>
                  <a:gsLst>
                    <a:gs pos="0">
                      <a:srgbClr val="032A33">
                        <a:alpha val="100000"/>
                      </a:srgbClr>
                    </a:gs>
                    <a:gs pos="100000">
                      <a:srgbClr val="106470">
                        <a:alpha val="100000"/>
                      </a:srgbClr>
                    </a:gs>
                  </a:gsLst>
                  <a:lin ang="5400000"/>
                </a:gradFill>
                <a:latin typeface="Times New Roman Bold"/>
                <a:ea typeface="Times New Roman Bold"/>
                <a:cs typeface="Times New Roman Bold"/>
                <a:sym typeface="Times New Roman Bold"/>
              </a:rPr>
              <a:t>Discussion 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>
      <p:bgPr>
        <a:solidFill>
          <a:srgbClr val="F2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98586" y="2074214"/>
            <a:ext cx="14890829" cy="5076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10088" indent="-355044" lvl="1">
              <a:lnSpc>
                <a:spcPts val="4505"/>
              </a:lnSpc>
              <a:buFont typeface="Arial"/>
              <a:buChar char="•"/>
            </a:pPr>
            <a:r>
              <a:rPr lang="en-US" sz="3288" spc="-10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we set out to do: uncover the hidden usability barriers in Bangladeshi university LMS platforms and act on them.</a:t>
            </a:r>
          </a:p>
          <a:p>
            <a:pPr algn="just" marL="710088" indent="-355044" lvl="1">
              <a:lnSpc>
                <a:spcPts val="4505"/>
              </a:lnSpc>
              <a:buFont typeface="Arial"/>
              <a:buChar char="•"/>
            </a:pPr>
            <a:r>
              <a:rPr lang="en-US" sz="3288" spc="-10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we found: seven interconnected, quantitatively validated barriers - driven by design and institutional practice, not user unfamiliarity (even 5+ year users struggle).</a:t>
            </a:r>
          </a:p>
          <a:p>
            <a:pPr algn="just" marL="710088" indent="-355044" lvl="1">
              <a:lnSpc>
                <a:spcPts val="4505"/>
              </a:lnSpc>
              <a:buFont typeface="Arial"/>
              <a:buChar char="•"/>
            </a:pPr>
            <a:r>
              <a:rPr lang="en-US" sz="3288" spc="-10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it means: poor LMS design doesn't level the playing field - it widens the divide for students with weaker devices, connectivity, or digital literacy.</a:t>
            </a:r>
          </a:p>
          <a:p>
            <a:pPr algn="just" marL="710088" indent="-355044" lvl="1">
              <a:lnSpc>
                <a:spcPts val="4505"/>
              </a:lnSpc>
              <a:buFont typeface="Arial"/>
              <a:buChar char="•"/>
            </a:pPr>
            <a:r>
              <a:rPr lang="en-US" sz="3288" spc="-10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contribution: a context-grounded, mixed-methods evaluation plus a working, evidence-based prototype proving better LMS experiences are achievable with modest resources.</a:t>
            </a:r>
          </a:p>
          <a:p>
            <a:pPr algn="l">
              <a:lnSpc>
                <a:spcPts val="3957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2155641" y="742606"/>
            <a:ext cx="14433774" cy="1062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20"/>
              </a:lnSpc>
              <a:spcBef>
                <a:spcPct val="0"/>
              </a:spcBef>
            </a:pPr>
            <a:r>
              <a:rPr lang="en-US" b="true" sz="7200" spc="-496">
                <a:gradFill>
                  <a:gsLst>
                    <a:gs pos="0">
                      <a:srgbClr val="032A33">
                        <a:alpha val="100000"/>
                      </a:srgbClr>
                    </a:gs>
                    <a:gs pos="100000">
                      <a:srgbClr val="106470">
                        <a:alpha val="100000"/>
                      </a:srgbClr>
                    </a:gs>
                  </a:gsLst>
                  <a:lin ang="5400000"/>
                </a:gra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98586" y="7689140"/>
            <a:ext cx="14995413" cy="483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272" i="true" spc="238">
                <a:gradFill>
                  <a:gsLst>
                    <a:gs pos="0">
                      <a:srgbClr val="032A33">
                        <a:alpha val="100000"/>
                      </a:srgbClr>
                    </a:gs>
                    <a:gs pos="100000">
                      <a:srgbClr val="106470">
                        <a:alpha val="100000"/>
                      </a:srgbClr>
                    </a:gs>
                  </a:gsLst>
                  <a:lin ang="5400000"/>
                </a:gra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The barrie</a:t>
            </a:r>
            <a:r>
              <a:rPr lang="en-US" b="true" sz="3272" i="true" spc="238">
                <a:gradFill>
                  <a:gsLst>
                    <a:gs pos="0">
                      <a:srgbClr val="032A33">
                        <a:alpha val="100000"/>
                      </a:srgbClr>
                    </a:gs>
                    <a:gs pos="100000">
                      <a:srgbClr val="106470">
                        <a:alpha val="100000"/>
                      </a:srgbClr>
                    </a:gs>
                  </a:gsLst>
                  <a:lin ang="5400000"/>
                </a:gra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rs are invisible - but they are designable, and they are solvable.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bg>
      <p:bgPr>
        <a:solidFill>
          <a:srgbClr val="F2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62872" y="511492"/>
            <a:ext cx="15162257" cy="1062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20"/>
              </a:lnSpc>
              <a:spcBef>
                <a:spcPct val="0"/>
              </a:spcBef>
            </a:pPr>
            <a:r>
              <a:rPr lang="en-US" b="true" sz="7200" spc="-266">
                <a:gradFill>
                  <a:gsLst>
                    <a:gs pos="0">
                      <a:srgbClr val="032A33">
                        <a:alpha val="100000"/>
                      </a:srgbClr>
                    </a:gs>
                    <a:gs pos="100000">
                      <a:srgbClr val="106470">
                        <a:alpha val="100000"/>
                      </a:srgbClr>
                    </a:gs>
                  </a:gsLst>
                  <a:lin ang="5400000"/>
                </a:gradFill>
                <a:latin typeface="Times New Roman Bold"/>
                <a:ea typeface="Times New Roman Bold"/>
                <a:cs typeface="Times New Roman Bold"/>
                <a:sym typeface="Times New Roman Bold"/>
              </a:rPr>
              <a:t>Future Work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979240" y="1665371"/>
            <a:ext cx="12996401" cy="871510"/>
            <a:chOff x="0" y="0"/>
            <a:chExt cx="3422921" cy="22953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422921" cy="229534"/>
            </a:xfrm>
            <a:custGeom>
              <a:avLst/>
              <a:gdLst/>
              <a:ahLst/>
              <a:cxnLst/>
              <a:rect r="r" b="b" t="t" l="l"/>
              <a:pathLst>
                <a:path h="229534" w="3422921">
                  <a:moveTo>
                    <a:pt x="10723" y="0"/>
                  </a:moveTo>
                  <a:lnTo>
                    <a:pt x="3412198" y="0"/>
                  </a:lnTo>
                  <a:cubicBezTo>
                    <a:pt x="3418120" y="0"/>
                    <a:pt x="3422921" y="4801"/>
                    <a:pt x="3422921" y="10723"/>
                  </a:cubicBezTo>
                  <a:lnTo>
                    <a:pt x="3422921" y="218811"/>
                  </a:lnTo>
                  <a:cubicBezTo>
                    <a:pt x="3422921" y="224733"/>
                    <a:pt x="3418120" y="229534"/>
                    <a:pt x="3412198" y="229534"/>
                  </a:cubicBezTo>
                  <a:lnTo>
                    <a:pt x="10723" y="229534"/>
                  </a:lnTo>
                  <a:cubicBezTo>
                    <a:pt x="4801" y="229534"/>
                    <a:pt x="0" y="224733"/>
                    <a:pt x="0" y="218811"/>
                  </a:cubicBezTo>
                  <a:lnTo>
                    <a:pt x="0" y="10723"/>
                  </a:lnTo>
                  <a:cubicBezTo>
                    <a:pt x="0" y="4801"/>
                    <a:pt x="4801" y="0"/>
                    <a:pt x="10723" y="0"/>
                  </a:cubicBezTo>
                  <a:close/>
                </a:path>
              </a:pathLst>
            </a:custGeom>
            <a:solidFill>
              <a:srgbClr val="C8DEE2"/>
            </a:solidFill>
            <a:ln w="19050" cap="sq">
              <a:solidFill>
                <a:srgbClr val="D3E4E7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3422921" cy="2866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Longitudinal study tracking LMS adoption and usability over time.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979240" y="2832157"/>
            <a:ext cx="12996401" cy="1008370"/>
            <a:chOff x="0" y="0"/>
            <a:chExt cx="3422921" cy="26557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422921" cy="265579"/>
            </a:xfrm>
            <a:custGeom>
              <a:avLst/>
              <a:gdLst/>
              <a:ahLst/>
              <a:cxnLst/>
              <a:rect r="r" b="b" t="t" l="l"/>
              <a:pathLst>
                <a:path h="265579" w="3422921">
                  <a:moveTo>
                    <a:pt x="10723" y="0"/>
                  </a:moveTo>
                  <a:lnTo>
                    <a:pt x="3412198" y="0"/>
                  </a:lnTo>
                  <a:cubicBezTo>
                    <a:pt x="3418120" y="0"/>
                    <a:pt x="3422921" y="4801"/>
                    <a:pt x="3422921" y="10723"/>
                  </a:cubicBezTo>
                  <a:lnTo>
                    <a:pt x="3422921" y="254856"/>
                  </a:lnTo>
                  <a:cubicBezTo>
                    <a:pt x="3422921" y="257700"/>
                    <a:pt x="3421791" y="260428"/>
                    <a:pt x="3419780" y="262438"/>
                  </a:cubicBezTo>
                  <a:cubicBezTo>
                    <a:pt x="3417769" y="264449"/>
                    <a:pt x="3415042" y="265579"/>
                    <a:pt x="3412198" y="265579"/>
                  </a:cubicBezTo>
                  <a:lnTo>
                    <a:pt x="10723" y="265579"/>
                  </a:lnTo>
                  <a:cubicBezTo>
                    <a:pt x="4801" y="265579"/>
                    <a:pt x="0" y="260778"/>
                    <a:pt x="0" y="254856"/>
                  </a:cubicBezTo>
                  <a:lnTo>
                    <a:pt x="0" y="10723"/>
                  </a:lnTo>
                  <a:cubicBezTo>
                    <a:pt x="0" y="4801"/>
                    <a:pt x="4801" y="0"/>
                    <a:pt x="10723" y="0"/>
                  </a:cubicBezTo>
                  <a:close/>
                </a:path>
              </a:pathLst>
            </a:custGeom>
            <a:solidFill>
              <a:srgbClr val="C8DEE2"/>
            </a:solidFill>
            <a:ln w="19050" cap="sq">
              <a:solidFill>
                <a:srgbClr val="D3E4E7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3422921" cy="3227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Scalable mixed-methods replication across other Bangladeshi institutions and comparable developing nations.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979240" y="4135130"/>
            <a:ext cx="12996401" cy="1008370"/>
            <a:chOff x="0" y="0"/>
            <a:chExt cx="3422921" cy="26557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422921" cy="265579"/>
            </a:xfrm>
            <a:custGeom>
              <a:avLst/>
              <a:gdLst/>
              <a:ahLst/>
              <a:cxnLst/>
              <a:rect r="r" b="b" t="t" l="l"/>
              <a:pathLst>
                <a:path h="265579" w="3422921">
                  <a:moveTo>
                    <a:pt x="10723" y="0"/>
                  </a:moveTo>
                  <a:lnTo>
                    <a:pt x="3412198" y="0"/>
                  </a:lnTo>
                  <a:cubicBezTo>
                    <a:pt x="3418120" y="0"/>
                    <a:pt x="3422921" y="4801"/>
                    <a:pt x="3422921" y="10723"/>
                  </a:cubicBezTo>
                  <a:lnTo>
                    <a:pt x="3422921" y="254856"/>
                  </a:lnTo>
                  <a:cubicBezTo>
                    <a:pt x="3422921" y="257700"/>
                    <a:pt x="3421791" y="260428"/>
                    <a:pt x="3419780" y="262438"/>
                  </a:cubicBezTo>
                  <a:cubicBezTo>
                    <a:pt x="3417769" y="264449"/>
                    <a:pt x="3415042" y="265579"/>
                    <a:pt x="3412198" y="265579"/>
                  </a:cubicBezTo>
                  <a:lnTo>
                    <a:pt x="10723" y="265579"/>
                  </a:lnTo>
                  <a:cubicBezTo>
                    <a:pt x="4801" y="265579"/>
                    <a:pt x="0" y="260778"/>
                    <a:pt x="0" y="254856"/>
                  </a:cubicBezTo>
                  <a:lnTo>
                    <a:pt x="0" y="10723"/>
                  </a:lnTo>
                  <a:cubicBezTo>
                    <a:pt x="0" y="4801"/>
                    <a:pt x="4801" y="0"/>
                    <a:pt x="10723" y="0"/>
                  </a:cubicBezTo>
                  <a:close/>
                </a:path>
              </a:pathLst>
            </a:custGeom>
            <a:solidFill>
              <a:srgbClr val="C8DEE2"/>
            </a:solidFill>
            <a:ln w="19050" cap="sq">
              <a:solidFill>
                <a:srgbClr val="D3E4E7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3422921" cy="3227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Actionable design interventions - move from documentation to iterative testing of the evidence-based recommendations proposed here.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979240" y="6742420"/>
            <a:ext cx="12996401" cy="1008370"/>
            <a:chOff x="0" y="0"/>
            <a:chExt cx="3422921" cy="26557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422921" cy="265579"/>
            </a:xfrm>
            <a:custGeom>
              <a:avLst/>
              <a:gdLst/>
              <a:ahLst/>
              <a:cxnLst/>
              <a:rect r="r" b="b" t="t" l="l"/>
              <a:pathLst>
                <a:path h="265579" w="3422921">
                  <a:moveTo>
                    <a:pt x="10723" y="0"/>
                  </a:moveTo>
                  <a:lnTo>
                    <a:pt x="3412198" y="0"/>
                  </a:lnTo>
                  <a:cubicBezTo>
                    <a:pt x="3418120" y="0"/>
                    <a:pt x="3422921" y="4801"/>
                    <a:pt x="3422921" y="10723"/>
                  </a:cubicBezTo>
                  <a:lnTo>
                    <a:pt x="3422921" y="254856"/>
                  </a:lnTo>
                  <a:cubicBezTo>
                    <a:pt x="3422921" y="257700"/>
                    <a:pt x="3421791" y="260428"/>
                    <a:pt x="3419780" y="262438"/>
                  </a:cubicBezTo>
                  <a:cubicBezTo>
                    <a:pt x="3417769" y="264449"/>
                    <a:pt x="3415042" y="265579"/>
                    <a:pt x="3412198" y="265579"/>
                  </a:cubicBezTo>
                  <a:lnTo>
                    <a:pt x="10723" y="265579"/>
                  </a:lnTo>
                  <a:cubicBezTo>
                    <a:pt x="4801" y="265579"/>
                    <a:pt x="0" y="260778"/>
                    <a:pt x="0" y="254856"/>
                  </a:cubicBezTo>
                  <a:lnTo>
                    <a:pt x="0" y="10723"/>
                  </a:lnTo>
                  <a:cubicBezTo>
                    <a:pt x="0" y="4801"/>
                    <a:pt x="4801" y="0"/>
                    <a:pt x="10723" y="0"/>
                  </a:cubicBezTo>
                  <a:close/>
                </a:path>
              </a:pathLst>
            </a:custGeom>
            <a:solidFill>
              <a:srgbClr val="C8DEE2"/>
            </a:solidFill>
            <a:ln w="19050" cap="sq">
              <a:solidFill>
                <a:srgbClr val="D3E4E7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3422921" cy="3227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Infrastructure-aware LMS design - research optimizing platforms specifically for low-bandwidth, low-device, low-digital-literacy environments.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979240" y="5438775"/>
            <a:ext cx="12996401" cy="1008370"/>
            <a:chOff x="0" y="0"/>
            <a:chExt cx="3422921" cy="26557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422921" cy="265579"/>
            </a:xfrm>
            <a:custGeom>
              <a:avLst/>
              <a:gdLst/>
              <a:ahLst/>
              <a:cxnLst/>
              <a:rect r="r" b="b" t="t" l="l"/>
              <a:pathLst>
                <a:path h="265579" w="3422921">
                  <a:moveTo>
                    <a:pt x="10723" y="0"/>
                  </a:moveTo>
                  <a:lnTo>
                    <a:pt x="3412198" y="0"/>
                  </a:lnTo>
                  <a:cubicBezTo>
                    <a:pt x="3418120" y="0"/>
                    <a:pt x="3422921" y="4801"/>
                    <a:pt x="3422921" y="10723"/>
                  </a:cubicBezTo>
                  <a:lnTo>
                    <a:pt x="3422921" y="254856"/>
                  </a:lnTo>
                  <a:cubicBezTo>
                    <a:pt x="3422921" y="257700"/>
                    <a:pt x="3421791" y="260428"/>
                    <a:pt x="3419780" y="262438"/>
                  </a:cubicBezTo>
                  <a:cubicBezTo>
                    <a:pt x="3417769" y="264449"/>
                    <a:pt x="3415042" y="265579"/>
                    <a:pt x="3412198" y="265579"/>
                  </a:cubicBezTo>
                  <a:lnTo>
                    <a:pt x="10723" y="265579"/>
                  </a:lnTo>
                  <a:cubicBezTo>
                    <a:pt x="4801" y="265579"/>
                    <a:pt x="0" y="260778"/>
                    <a:pt x="0" y="254856"/>
                  </a:cubicBezTo>
                  <a:lnTo>
                    <a:pt x="0" y="10723"/>
                  </a:lnTo>
                  <a:cubicBezTo>
                    <a:pt x="0" y="4801"/>
                    <a:pt x="4801" y="0"/>
                    <a:pt x="10723" y="0"/>
                  </a:cubicBezTo>
                  <a:close/>
                </a:path>
              </a:pathLst>
            </a:custGeom>
            <a:solidFill>
              <a:srgbClr val="C8DEE2"/>
            </a:solidFill>
            <a:ln w="19050" cap="sq">
              <a:solidFill>
                <a:srgbClr val="D3E4E7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3422921" cy="3227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Culturally adapted usability scales -  develop or validate instruments beyond SUS that account for pedagogical and sociocultural context in Global South settings.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979240" y="8099650"/>
            <a:ext cx="12996401" cy="1008370"/>
            <a:chOff x="0" y="0"/>
            <a:chExt cx="3422921" cy="26557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422921" cy="265579"/>
            </a:xfrm>
            <a:custGeom>
              <a:avLst/>
              <a:gdLst/>
              <a:ahLst/>
              <a:cxnLst/>
              <a:rect r="r" b="b" t="t" l="l"/>
              <a:pathLst>
                <a:path h="265579" w="3422921">
                  <a:moveTo>
                    <a:pt x="10723" y="0"/>
                  </a:moveTo>
                  <a:lnTo>
                    <a:pt x="3412198" y="0"/>
                  </a:lnTo>
                  <a:cubicBezTo>
                    <a:pt x="3418120" y="0"/>
                    <a:pt x="3422921" y="4801"/>
                    <a:pt x="3422921" y="10723"/>
                  </a:cubicBezTo>
                  <a:lnTo>
                    <a:pt x="3422921" y="254856"/>
                  </a:lnTo>
                  <a:cubicBezTo>
                    <a:pt x="3422921" y="257700"/>
                    <a:pt x="3421791" y="260428"/>
                    <a:pt x="3419780" y="262438"/>
                  </a:cubicBezTo>
                  <a:cubicBezTo>
                    <a:pt x="3417769" y="264449"/>
                    <a:pt x="3415042" y="265579"/>
                    <a:pt x="3412198" y="265579"/>
                  </a:cubicBezTo>
                  <a:lnTo>
                    <a:pt x="10723" y="265579"/>
                  </a:lnTo>
                  <a:cubicBezTo>
                    <a:pt x="4801" y="265579"/>
                    <a:pt x="0" y="260778"/>
                    <a:pt x="0" y="254856"/>
                  </a:cubicBezTo>
                  <a:lnTo>
                    <a:pt x="0" y="10723"/>
                  </a:lnTo>
                  <a:cubicBezTo>
                    <a:pt x="0" y="4801"/>
                    <a:pt x="4801" y="0"/>
                    <a:pt x="10723" y="0"/>
                  </a:cubicBezTo>
                  <a:close/>
                </a:path>
              </a:pathLst>
            </a:custGeom>
            <a:solidFill>
              <a:srgbClr val="C8DEE2"/>
            </a:solidFill>
            <a:ln w="19050" cap="sq">
              <a:solidFill>
                <a:srgbClr val="D3E4E7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3422921" cy="3227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Longitudinal student feedback integration - build mechanisms so student voices are systematically incorporated into LMS development cycles.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bg>
      <p:bgPr>
        <a:solidFill>
          <a:srgbClr val="F2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94548" y="1599890"/>
            <a:ext cx="15698903" cy="8165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58" indent="-205129" lvl="1">
              <a:lnSpc>
                <a:spcPts val="3382"/>
              </a:lnSpc>
              <a:buFont typeface="Arial"/>
              <a:buChar char="•"/>
            </a:pPr>
            <a:r>
              <a:rPr lang="en-US" sz="1900" spc="-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Lu, J., Schmidt, M., &amp; Shin, J. (2025). Beyond technological usability: exploratory factor analysis of the comprehensive assessment of usability scale for learning technologies (CAUSLT). arXiv preprint arXiv:2501.18754.</a:t>
            </a:r>
          </a:p>
          <a:p>
            <a:pPr algn="l" marL="410258" indent="-205129" lvl="1">
              <a:lnSpc>
                <a:spcPts val="3382"/>
              </a:lnSpc>
              <a:buFont typeface="Arial"/>
              <a:buChar char="•"/>
            </a:pPr>
            <a:r>
              <a:rPr lang="en-US" sz="1900" spc="-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Koca, P. P., &amp; Özcan, H. (2025). Usability in learning management systems: A mixed-method analysis. International Journal of Pioneering Technology and Engineering, 4(01), 17-25.</a:t>
            </a:r>
          </a:p>
          <a:p>
            <a:pPr algn="l" marL="410258" indent="-205129" lvl="1">
              <a:lnSpc>
                <a:spcPts val="3382"/>
              </a:lnSpc>
              <a:buFont typeface="Arial"/>
              <a:buChar char="•"/>
            </a:pPr>
            <a:r>
              <a:rPr lang="en-US" sz="1900" spc="-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Simon, Patricia &amp; Jiang, Juming &amp; Fryer, Luke &amp; King, Ronnel &amp; Frondozo, Cherry. (2024). An Assessment of Learning Management System Use in Higher Education: Perspectives from a Comprehensive Sample of Teachers and Students. Technology, Knowledge and Learning. 30. 741-767. 10.1007/s10758-024-09734-5. </a:t>
            </a:r>
          </a:p>
          <a:p>
            <a:pPr algn="l" marL="410258" indent="-205129" lvl="1">
              <a:lnSpc>
                <a:spcPts val="3382"/>
              </a:lnSpc>
              <a:buFont typeface="Arial"/>
              <a:buChar char="•"/>
            </a:pPr>
            <a:r>
              <a:rPr lang="en-US" sz="1900" spc="-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Berényi, L. (2025). Usability analysis of the Moodle system. GRADUS, 12(1), 1-6.</a:t>
            </a:r>
          </a:p>
          <a:p>
            <a:pPr algn="l" marL="410258" indent="-205129" lvl="1">
              <a:lnSpc>
                <a:spcPts val="3382"/>
              </a:lnSpc>
              <a:buFont typeface="Arial"/>
              <a:buChar char="•"/>
            </a:pPr>
            <a:r>
              <a:rPr lang="en-US" sz="1900" spc="-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Al-Fraihat, D., Alshahrani, A. M., Alzaidi, M., Shaikh, A. A., Al-Obeidallah, M., &amp; Al-Okaily, M. (2025). Exploring students’ perceptions of the design and use of the Moodle learning management system. Computers in human behavior reports, 18, 100685.</a:t>
            </a:r>
          </a:p>
          <a:p>
            <a:pPr algn="l" marL="410258" indent="-205129" lvl="1">
              <a:lnSpc>
                <a:spcPts val="3382"/>
              </a:lnSpc>
              <a:buFont typeface="Arial"/>
              <a:buChar char="•"/>
            </a:pPr>
            <a:r>
              <a:rPr lang="en-US" sz="1900" spc="-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Faghih, B., Azadehfar, D. M. R., &amp; Katebi, P. (2014). User interface design for e-learning software. arXiv preprint arXiv:1401.6365.</a:t>
            </a:r>
          </a:p>
          <a:p>
            <a:pPr algn="l" marL="410258" indent="-205129" lvl="1">
              <a:lnSpc>
                <a:spcPts val="3382"/>
              </a:lnSpc>
              <a:buFont typeface="Arial"/>
              <a:buChar char="•"/>
            </a:pPr>
            <a:r>
              <a:rPr lang="en-US" sz="1900" spc="-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Karim, S. S., Parvin, S., Ahmed, C. B. U., &amp; Hossain, M. T. (2025). Teachers’ and students’ perceptions of online education in Bangladesh: challenges and solutions. Discover Education, 4(1), 234.</a:t>
            </a:r>
          </a:p>
          <a:p>
            <a:pPr algn="l" marL="410258" indent="-205129" lvl="1">
              <a:lnSpc>
                <a:spcPts val="3382"/>
              </a:lnSpc>
              <a:buFont typeface="Arial"/>
              <a:buChar char="•"/>
            </a:pPr>
            <a:r>
              <a:rPr lang="en-US" sz="1900" spc="-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Saarmean, R., Hossain, M. Z., &amp; Mahadi, K. A. A study on the effectiveness of online learning system during Covid-19 in private universities of Bangladesh..</a:t>
            </a:r>
          </a:p>
          <a:p>
            <a:pPr algn="l" marL="410258" indent="-205129" lvl="1">
              <a:lnSpc>
                <a:spcPts val="3382"/>
              </a:lnSpc>
              <a:buFont typeface="Arial"/>
              <a:buChar char="•"/>
            </a:pPr>
            <a:r>
              <a:rPr lang="en-US" sz="1900" spc="-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Hasan, M. K., Tonmon, T. T., Kabir, H., Masud, S. B., Hasan, M. A., Das, B., ... &amp; Mitra, D. K. (2021). Availability and use of technology for e-learning: to what extent do these impact Bangladeshi university students? A cross-sectional study. F1000Research, 10, 1285.</a:t>
            </a:r>
          </a:p>
          <a:p>
            <a:pPr algn="l" marL="432366" indent="-216183" lvl="1">
              <a:lnSpc>
                <a:spcPts val="3564"/>
              </a:lnSpc>
              <a:buFont typeface="Arial"/>
              <a:buChar char="•"/>
            </a:pPr>
            <a:r>
              <a:rPr lang="en-US" sz="2002" spc="-6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Dzandu, M. D., &amp; Tang, Y. (2015). Beneath a learning management system-understanding the human information interaction in information systems. Procedia Manufacturing, 3, 1946-1952.</a:t>
            </a:r>
          </a:p>
          <a:p>
            <a:pPr algn="l" marL="410258" indent="-205129" lvl="1">
              <a:lnSpc>
                <a:spcPts val="3382"/>
              </a:lnSpc>
              <a:buFont typeface="Arial"/>
              <a:buChar char="•"/>
            </a:pPr>
            <a:r>
              <a:rPr lang="en-US" sz="1900" spc="-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Almusharraf, A. I. (2024). An investigation of university students’ perceptions of learning management systems: Insights for enhancing usability and engagement. Sustainability, 16(22), 10037.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568802" y="511493"/>
            <a:ext cx="9877970" cy="1062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20"/>
              </a:lnSpc>
              <a:spcBef>
                <a:spcPct val="0"/>
              </a:spcBef>
            </a:pPr>
            <a:r>
              <a:rPr lang="en-US" b="true" sz="7200" spc="-496">
                <a:gradFill>
                  <a:gsLst>
                    <a:gs pos="0">
                      <a:srgbClr val="032A33">
                        <a:alpha val="100000"/>
                      </a:srgbClr>
                    </a:gs>
                    <a:gs pos="100000">
                      <a:srgbClr val="106470">
                        <a:alpha val="100000"/>
                      </a:srgbClr>
                    </a:gs>
                  </a:gsLst>
                  <a:lin ang="5400000"/>
                </a:gradFill>
                <a:latin typeface="Times New Roman Bold"/>
                <a:ea typeface="Times New Roman Bold"/>
                <a:cs typeface="Times New Roman Bold"/>
                <a:sym typeface="Times New Roman Bold"/>
              </a:rPr>
              <a:t>Key</a:t>
            </a:r>
            <a:r>
              <a:rPr lang="en-US" b="true" sz="7200" spc="-496">
                <a:gradFill>
                  <a:gsLst>
                    <a:gs pos="0">
                      <a:srgbClr val="032A33">
                        <a:alpha val="100000"/>
                      </a:srgbClr>
                    </a:gs>
                    <a:gs pos="100000">
                      <a:srgbClr val="106470">
                        <a:alpha val="100000"/>
                      </a:srgbClr>
                    </a:gs>
                  </a:gsLst>
                  <a:lin ang="5400000"/>
                </a:gradFill>
                <a:latin typeface="Times New Roman Bold"/>
                <a:ea typeface="Times New Roman Bold"/>
                <a:cs typeface="Times New Roman Bold"/>
                <a:sym typeface="Times New Roman Bold"/>
              </a:rPr>
              <a:t> References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506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341590" y="2980289"/>
            <a:ext cx="13604820" cy="3126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87"/>
              </a:lnSpc>
            </a:pPr>
            <a:r>
              <a:rPr lang="en-US" sz="16887" spc="-67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 !!!</a:t>
            </a:r>
          </a:p>
          <a:p>
            <a:pPr algn="ctr" marL="0" indent="0" lvl="0">
              <a:lnSpc>
                <a:spcPts val="7289"/>
              </a:lnSpc>
            </a:pPr>
            <a:r>
              <a:rPr lang="en-US" sz="7289" spc="-29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Any Questions?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8665694"/>
            <a:ext cx="2869060" cy="592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03"/>
              </a:lnSpc>
              <a:spcBef>
                <a:spcPct val="0"/>
              </a:spcBef>
            </a:pPr>
            <a:r>
              <a:rPr lang="en-US" b="true" sz="3911" spc="28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Codebook: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326611" y="8665848"/>
            <a:ext cx="2669532" cy="592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03"/>
              </a:lnSpc>
              <a:spcBef>
                <a:spcPct val="0"/>
              </a:spcBef>
            </a:pPr>
            <a:r>
              <a:rPr lang="en-US" b="true" sz="3911" spc="28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Prototype: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897760" y="8675219"/>
            <a:ext cx="1263158" cy="582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89"/>
              </a:lnSpc>
              <a:spcBef>
                <a:spcPct val="0"/>
              </a:spcBef>
            </a:pPr>
            <a:r>
              <a:rPr lang="en-US" b="true" sz="3899" spc="284" u="sng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  <a:hlinkClick r:id="rId2" tooltip="https://docs.google.com/spreadsheets/d/1n0yjQDdZ6ZD1LAxv1p1GW9K4iSb9nmKezfAaOGjW4iY/edit?usp=drive_link"/>
              </a:rPr>
              <a:t>URL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996142" y="8675373"/>
            <a:ext cx="1263158" cy="582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89"/>
              </a:lnSpc>
              <a:spcBef>
                <a:spcPct val="0"/>
              </a:spcBef>
            </a:pPr>
            <a:r>
              <a:rPr lang="en-US" b="true" sz="3899" spc="284" u="sng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  <a:hlinkClick r:id="rId3" tooltip="http://one-lms-test.infinityfreeapp.com"/>
              </a:rPr>
              <a:t>URL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DAHMIgS1zjA</dc:identifier>
  <dcterms:modified xsi:type="dcterms:W3CDTF">2011-08-01T06:04:30Z</dcterms:modified>
  <cp:revision>1</cp:revision>
  <dc:title>Green and White Modern Research Proposal Presentation</dc:title>
</cp:coreProperties>
</file>